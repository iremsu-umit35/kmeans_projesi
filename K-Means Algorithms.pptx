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7" r:id="rId12"/>
  </p:sldIdLst>
  <p:sldSz cx="18288000" cy="10287000"/>
  <p:notesSz cx="6858000" cy="9144000"/>
  <p:embeddedFontLst>
    <p:embeddedFont>
      <p:font typeface="Canva Sans Bold" panose="020B0604020202020204" charset="0"/>
      <p:regular r:id="rId13"/>
    </p:embeddedFont>
    <p:embeddedFont>
      <p:font typeface="Open Sans" panose="020B0606030504020204" pitchFamily="34" charset="0"/>
      <p:regular r:id="rId14"/>
    </p:embeddedFont>
    <p:embeddedFont>
      <p:font typeface="Open Sans Bold" panose="020B0604020202020204" charset="0"/>
      <p:regular r:id="rId15"/>
    </p:embeddedFont>
    <p:embeddedFont>
      <p:font typeface="Roboto" panose="02000000000000000000" pitchFamily="2" charset="0"/>
      <p:regular r:id="rId16"/>
    </p:embeddedFont>
    <p:embeddedFont>
      <p:font typeface="Roboto Bold" panose="020B0604020202020204" charset="0"/>
      <p:regular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0" d="100"/>
          <a:sy n="50" d="100"/>
        </p:scale>
        <p:origin x="946" y="-43"/>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12/13/2025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12/13/2025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12/13/2025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12/13/2025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12.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14.png"/><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16.pn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5F6F5"/>
        </a:solidFill>
        <a:effectLst/>
      </p:bgPr>
    </p:bg>
    <p:spTree>
      <p:nvGrpSpPr>
        <p:cNvPr id="1" name=""/>
        <p:cNvGrpSpPr/>
        <p:nvPr/>
      </p:nvGrpSpPr>
      <p:grpSpPr>
        <a:xfrm>
          <a:off x="0" y="0"/>
          <a:ext cx="0" cy="0"/>
          <a:chOff x="0" y="0"/>
          <a:chExt cx="0" cy="0"/>
        </a:xfrm>
      </p:grpSpPr>
      <p:sp>
        <p:nvSpPr>
          <p:cNvPr id="2" name="Freeform 2"/>
          <p:cNvSpPr/>
          <p:nvPr/>
        </p:nvSpPr>
        <p:spPr>
          <a:xfrm>
            <a:off x="-1008126" y="-1799077"/>
            <a:ext cx="4073652" cy="4114800"/>
          </a:xfrm>
          <a:custGeom>
            <a:avLst/>
            <a:gdLst/>
            <a:ahLst/>
            <a:cxnLst/>
            <a:rect l="l" t="t" r="r" b="b"/>
            <a:pathLst>
              <a:path w="4073652" h="4114800">
                <a:moveTo>
                  <a:pt x="0" y="0"/>
                </a:moveTo>
                <a:lnTo>
                  <a:pt x="4073652" y="0"/>
                </a:lnTo>
                <a:lnTo>
                  <a:pt x="4073652"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tr-TR"/>
          </a:p>
        </p:txBody>
      </p:sp>
      <p:sp>
        <p:nvSpPr>
          <p:cNvPr id="3" name="Freeform 3"/>
          <p:cNvSpPr/>
          <p:nvPr/>
        </p:nvSpPr>
        <p:spPr>
          <a:xfrm>
            <a:off x="15528926" y="7856453"/>
            <a:ext cx="4073652" cy="4114800"/>
          </a:xfrm>
          <a:custGeom>
            <a:avLst/>
            <a:gdLst/>
            <a:ahLst/>
            <a:cxnLst/>
            <a:rect l="l" t="t" r="r" b="b"/>
            <a:pathLst>
              <a:path w="4073652" h="4114800">
                <a:moveTo>
                  <a:pt x="0" y="0"/>
                </a:moveTo>
                <a:lnTo>
                  <a:pt x="4073652" y="0"/>
                </a:lnTo>
                <a:lnTo>
                  <a:pt x="4073652"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tr-TR"/>
          </a:p>
        </p:txBody>
      </p:sp>
      <p:sp>
        <p:nvSpPr>
          <p:cNvPr id="4" name="TextBox 4"/>
          <p:cNvSpPr txBox="1"/>
          <p:nvPr/>
        </p:nvSpPr>
        <p:spPr>
          <a:xfrm>
            <a:off x="3559887" y="4959998"/>
            <a:ext cx="11168227" cy="1369695"/>
          </a:xfrm>
          <a:prstGeom prst="rect">
            <a:avLst/>
          </a:prstGeom>
        </p:spPr>
        <p:txBody>
          <a:bodyPr lIns="0" tIns="0" rIns="0" bIns="0" rtlCol="0" anchor="t">
            <a:spAutoFit/>
          </a:bodyPr>
          <a:lstStyle/>
          <a:p>
            <a:pPr marL="0" lvl="0" indent="0" algn="ctr">
              <a:lnSpc>
                <a:spcPts val="10560"/>
              </a:lnSpc>
              <a:spcBef>
                <a:spcPct val="0"/>
              </a:spcBef>
            </a:pPr>
            <a:r>
              <a:rPr lang="en-US" sz="9600">
                <a:solidFill>
                  <a:srgbClr val="00578B"/>
                </a:solidFill>
                <a:latin typeface="Roboto"/>
                <a:ea typeface="Roboto"/>
                <a:cs typeface="Roboto"/>
                <a:sym typeface="Roboto"/>
              </a:rPr>
              <a:t>K-Means Algorithms</a:t>
            </a:r>
          </a:p>
        </p:txBody>
      </p:sp>
      <p:sp>
        <p:nvSpPr>
          <p:cNvPr id="5" name="TextBox 5"/>
          <p:cNvSpPr txBox="1"/>
          <p:nvPr/>
        </p:nvSpPr>
        <p:spPr>
          <a:xfrm>
            <a:off x="1915837" y="6794856"/>
            <a:ext cx="14456326" cy="679450"/>
          </a:xfrm>
          <a:prstGeom prst="rect">
            <a:avLst/>
          </a:prstGeom>
        </p:spPr>
        <p:txBody>
          <a:bodyPr lIns="0" tIns="0" rIns="0" bIns="0" rtlCol="0" anchor="t">
            <a:spAutoFit/>
          </a:bodyPr>
          <a:lstStyle/>
          <a:p>
            <a:pPr algn="ctr">
              <a:lnSpc>
                <a:spcPts val="5599"/>
              </a:lnSpc>
              <a:spcBef>
                <a:spcPct val="0"/>
              </a:spcBef>
            </a:pPr>
            <a:r>
              <a:rPr lang="en-US" sz="3999">
                <a:solidFill>
                  <a:srgbClr val="FF1E41"/>
                </a:solidFill>
                <a:latin typeface="Open Sans"/>
                <a:ea typeface="Open Sans"/>
                <a:cs typeface="Open Sans"/>
                <a:sym typeface="Open Sans"/>
              </a:rPr>
              <a:t>Project Overview</a:t>
            </a:r>
          </a:p>
        </p:txBody>
      </p:sp>
      <p:sp>
        <p:nvSpPr>
          <p:cNvPr id="6" name="Freeform 6"/>
          <p:cNvSpPr/>
          <p:nvPr/>
        </p:nvSpPr>
        <p:spPr>
          <a:xfrm>
            <a:off x="16444568" y="-462770"/>
            <a:ext cx="1629465" cy="1897484"/>
          </a:xfrm>
          <a:custGeom>
            <a:avLst/>
            <a:gdLst/>
            <a:ahLst/>
            <a:cxnLst/>
            <a:rect l="l" t="t" r="r" b="b"/>
            <a:pathLst>
              <a:path w="1629465" h="1897484">
                <a:moveTo>
                  <a:pt x="0" y="0"/>
                </a:moveTo>
                <a:lnTo>
                  <a:pt x="1629464" y="0"/>
                </a:lnTo>
                <a:lnTo>
                  <a:pt x="1629464" y="1897485"/>
                </a:lnTo>
                <a:lnTo>
                  <a:pt x="0" y="189748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tr-TR"/>
          </a:p>
        </p:txBody>
      </p:sp>
      <p:sp>
        <p:nvSpPr>
          <p:cNvPr id="7" name="TextBox 7"/>
          <p:cNvSpPr txBox="1"/>
          <p:nvPr/>
        </p:nvSpPr>
        <p:spPr>
          <a:xfrm>
            <a:off x="284832" y="8382600"/>
            <a:ext cx="3542214" cy="1095375"/>
          </a:xfrm>
          <a:prstGeom prst="rect">
            <a:avLst/>
          </a:prstGeom>
        </p:spPr>
        <p:txBody>
          <a:bodyPr lIns="0" tIns="0" rIns="0" bIns="0" rtlCol="0" anchor="t">
            <a:spAutoFit/>
          </a:bodyPr>
          <a:lstStyle/>
          <a:p>
            <a:pPr algn="ctr">
              <a:lnSpc>
                <a:spcPts val="2879"/>
              </a:lnSpc>
            </a:pPr>
            <a:r>
              <a:rPr lang="en-US" sz="2400">
                <a:solidFill>
                  <a:srgbClr val="545454"/>
                </a:solidFill>
                <a:latin typeface="Roboto"/>
                <a:ea typeface="Roboto"/>
                <a:cs typeface="Roboto"/>
                <a:sym typeface="Roboto"/>
              </a:rPr>
              <a:t>Ertuğrul ÇAT - 230709016</a:t>
            </a:r>
          </a:p>
          <a:p>
            <a:pPr algn="ctr">
              <a:lnSpc>
                <a:spcPts val="2879"/>
              </a:lnSpc>
            </a:pPr>
            <a:endParaRPr lang="en-US" sz="2400">
              <a:solidFill>
                <a:srgbClr val="545454"/>
              </a:solidFill>
              <a:latin typeface="Roboto"/>
              <a:ea typeface="Roboto"/>
              <a:cs typeface="Roboto"/>
              <a:sym typeface="Roboto"/>
            </a:endParaRPr>
          </a:p>
          <a:p>
            <a:pPr algn="ctr">
              <a:lnSpc>
                <a:spcPts val="2879"/>
              </a:lnSpc>
              <a:spcBef>
                <a:spcPct val="0"/>
              </a:spcBef>
            </a:pPr>
            <a:r>
              <a:rPr lang="en-US" sz="2400">
                <a:solidFill>
                  <a:srgbClr val="545454"/>
                </a:solidFill>
                <a:latin typeface="Roboto"/>
                <a:ea typeface="Roboto"/>
                <a:cs typeface="Roboto"/>
                <a:sym typeface="Roboto"/>
              </a:rPr>
              <a:t>İremsu Ümit - 220709027</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F6F5"/>
        </a:solidFill>
        <a:effectLst/>
      </p:bgPr>
    </p:bg>
    <p:spTree>
      <p:nvGrpSpPr>
        <p:cNvPr id="1" name=""/>
        <p:cNvGrpSpPr/>
        <p:nvPr/>
      </p:nvGrpSpPr>
      <p:grpSpPr>
        <a:xfrm>
          <a:off x="0" y="0"/>
          <a:ext cx="0" cy="0"/>
          <a:chOff x="0" y="0"/>
          <a:chExt cx="0" cy="0"/>
        </a:xfrm>
      </p:grpSpPr>
      <p:sp>
        <p:nvSpPr>
          <p:cNvPr id="2" name="Freeform 2"/>
          <p:cNvSpPr/>
          <p:nvPr/>
        </p:nvSpPr>
        <p:spPr>
          <a:xfrm>
            <a:off x="-1548878" y="7429500"/>
            <a:ext cx="4073652" cy="4114800"/>
          </a:xfrm>
          <a:custGeom>
            <a:avLst/>
            <a:gdLst/>
            <a:ahLst/>
            <a:cxnLst/>
            <a:rect l="l" t="t" r="r" b="b"/>
            <a:pathLst>
              <a:path w="4073652" h="4114800">
                <a:moveTo>
                  <a:pt x="0" y="0"/>
                </a:moveTo>
                <a:lnTo>
                  <a:pt x="4073652" y="0"/>
                </a:lnTo>
                <a:lnTo>
                  <a:pt x="4073652"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tr-TR"/>
          </a:p>
        </p:txBody>
      </p:sp>
      <p:sp>
        <p:nvSpPr>
          <p:cNvPr id="3" name="Freeform 3"/>
          <p:cNvSpPr/>
          <p:nvPr/>
        </p:nvSpPr>
        <p:spPr>
          <a:xfrm>
            <a:off x="15763226" y="-1323647"/>
            <a:ext cx="4073652" cy="4114800"/>
          </a:xfrm>
          <a:custGeom>
            <a:avLst/>
            <a:gdLst/>
            <a:ahLst/>
            <a:cxnLst/>
            <a:rect l="l" t="t" r="r" b="b"/>
            <a:pathLst>
              <a:path w="4073652" h="4114800">
                <a:moveTo>
                  <a:pt x="0" y="0"/>
                </a:moveTo>
                <a:lnTo>
                  <a:pt x="4073652" y="0"/>
                </a:lnTo>
                <a:lnTo>
                  <a:pt x="4073652"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tr-TR"/>
          </a:p>
        </p:txBody>
      </p:sp>
      <p:sp>
        <p:nvSpPr>
          <p:cNvPr id="4" name="TextBox 4"/>
          <p:cNvSpPr txBox="1"/>
          <p:nvPr/>
        </p:nvSpPr>
        <p:spPr>
          <a:xfrm>
            <a:off x="2524774" y="1388955"/>
            <a:ext cx="5270895" cy="866775"/>
          </a:xfrm>
          <a:prstGeom prst="rect">
            <a:avLst/>
          </a:prstGeom>
        </p:spPr>
        <p:txBody>
          <a:bodyPr lIns="0" tIns="0" rIns="0" bIns="0" rtlCol="0" anchor="t">
            <a:spAutoFit/>
          </a:bodyPr>
          <a:lstStyle/>
          <a:p>
            <a:pPr marL="0" lvl="0" indent="0" algn="l">
              <a:lnSpc>
                <a:spcPts val="6720"/>
              </a:lnSpc>
              <a:spcBef>
                <a:spcPct val="0"/>
              </a:spcBef>
            </a:pPr>
            <a:r>
              <a:rPr lang="en-US" sz="5600" b="1" dirty="0">
                <a:solidFill>
                  <a:srgbClr val="00578B"/>
                </a:solidFill>
                <a:latin typeface="Roboto Bold"/>
                <a:ea typeface="Roboto Bold"/>
                <a:cs typeface="Roboto Bold"/>
                <a:sym typeface="Roboto Bold"/>
              </a:rPr>
              <a:t>Why </a:t>
            </a:r>
          </a:p>
        </p:txBody>
      </p:sp>
      <p:sp>
        <p:nvSpPr>
          <p:cNvPr id="5" name="TextBox 5"/>
          <p:cNvSpPr txBox="1"/>
          <p:nvPr/>
        </p:nvSpPr>
        <p:spPr>
          <a:xfrm>
            <a:off x="4558710" y="1501304"/>
            <a:ext cx="11020580" cy="1653540"/>
          </a:xfrm>
          <a:prstGeom prst="rect">
            <a:avLst/>
          </a:prstGeom>
        </p:spPr>
        <p:txBody>
          <a:bodyPr lIns="0" tIns="0" rIns="0" bIns="0" rtlCol="0" anchor="t">
            <a:spAutoFit/>
          </a:bodyPr>
          <a:lstStyle/>
          <a:p>
            <a:pPr algn="l">
              <a:lnSpc>
                <a:spcPts val="3359"/>
              </a:lnSpc>
            </a:pPr>
            <a:r>
              <a:rPr lang="en-US" sz="2400" dirty="0">
                <a:solidFill>
                  <a:srgbClr val="2D3D50"/>
                </a:solidFill>
                <a:latin typeface="Open Sans"/>
                <a:ea typeface="Open Sans"/>
                <a:cs typeface="Open Sans"/>
                <a:sym typeface="Open Sans"/>
              </a:rPr>
              <a:t>The aim of this project is to group cities in Türkiye that share similar characteristics based on the number of students coming to our university from different cities.</a:t>
            </a:r>
          </a:p>
          <a:p>
            <a:pPr algn="l">
              <a:lnSpc>
                <a:spcPts val="3359"/>
              </a:lnSpc>
            </a:pPr>
            <a:endParaRPr lang="en-US" sz="2400" dirty="0">
              <a:solidFill>
                <a:srgbClr val="2D3D50"/>
              </a:solidFill>
              <a:latin typeface="Open Sans"/>
              <a:ea typeface="Open Sans"/>
              <a:cs typeface="Open Sans"/>
              <a:sym typeface="Open Sans"/>
            </a:endParaRPr>
          </a:p>
        </p:txBody>
      </p:sp>
      <p:sp>
        <p:nvSpPr>
          <p:cNvPr id="6" name="TextBox 6"/>
          <p:cNvSpPr txBox="1"/>
          <p:nvPr/>
        </p:nvSpPr>
        <p:spPr>
          <a:xfrm>
            <a:off x="2524774" y="3785445"/>
            <a:ext cx="1562695" cy="1935851"/>
          </a:xfrm>
          <a:prstGeom prst="rect">
            <a:avLst/>
          </a:prstGeom>
        </p:spPr>
        <p:txBody>
          <a:bodyPr lIns="0" tIns="0" rIns="0" bIns="0" rtlCol="0" anchor="t">
            <a:spAutoFit/>
          </a:bodyPr>
          <a:lstStyle/>
          <a:p>
            <a:pPr>
              <a:lnSpc>
                <a:spcPts val="7839"/>
              </a:lnSpc>
            </a:pPr>
            <a:r>
              <a:rPr lang="en-US" sz="5600" b="1" dirty="0">
                <a:solidFill>
                  <a:srgbClr val="00578B"/>
                </a:solidFill>
                <a:latin typeface="Roboto Bold"/>
                <a:ea typeface="Roboto Bold"/>
                <a:cs typeface="Roboto Bold"/>
                <a:sym typeface="Roboto Bold"/>
              </a:rPr>
              <a:t>How</a:t>
            </a:r>
          </a:p>
          <a:p>
            <a:pPr algn="l">
              <a:lnSpc>
                <a:spcPts val="7839"/>
              </a:lnSpc>
            </a:pPr>
            <a:endParaRPr lang="en-US" sz="5599" b="1" dirty="0">
              <a:solidFill>
                <a:srgbClr val="00578B"/>
              </a:solidFill>
              <a:latin typeface="Canva Sans Bold"/>
              <a:ea typeface="Canva Sans Bold"/>
              <a:cs typeface="Canva Sans Bold"/>
              <a:sym typeface="Canva Sans Bold"/>
            </a:endParaRPr>
          </a:p>
        </p:txBody>
      </p:sp>
      <p:sp>
        <p:nvSpPr>
          <p:cNvPr id="7" name="TextBox 7"/>
          <p:cNvSpPr txBox="1"/>
          <p:nvPr/>
        </p:nvSpPr>
        <p:spPr>
          <a:xfrm>
            <a:off x="4589190" y="4293690"/>
            <a:ext cx="13171831" cy="2002155"/>
          </a:xfrm>
          <a:prstGeom prst="rect">
            <a:avLst/>
          </a:prstGeom>
        </p:spPr>
        <p:txBody>
          <a:bodyPr lIns="0" tIns="0" rIns="0" bIns="0" rtlCol="0" anchor="t">
            <a:spAutoFit/>
          </a:bodyPr>
          <a:lstStyle/>
          <a:p>
            <a:pPr algn="l">
              <a:lnSpc>
                <a:spcPts val="2640"/>
              </a:lnSpc>
            </a:pPr>
            <a:r>
              <a:rPr lang="en-US" sz="2400" dirty="0">
                <a:solidFill>
                  <a:srgbClr val="2D3D50"/>
                </a:solidFill>
                <a:latin typeface="Open Sans"/>
                <a:ea typeface="Open Sans"/>
                <a:cs typeface="Open Sans"/>
                <a:sym typeface="Open Sans"/>
              </a:rPr>
              <a:t>The K-Means results divide cities into 3 clusters:</a:t>
            </a:r>
          </a:p>
          <a:p>
            <a:pPr algn="l">
              <a:lnSpc>
                <a:spcPts val="2640"/>
              </a:lnSpc>
            </a:pPr>
            <a:r>
              <a:rPr lang="en-US" sz="2400" dirty="0">
                <a:solidFill>
                  <a:srgbClr val="2D3D50"/>
                </a:solidFill>
                <a:latin typeface="Open Sans"/>
                <a:ea typeface="Open Sans"/>
                <a:cs typeface="Open Sans"/>
                <a:sym typeface="Open Sans"/>
              </a:rPr>
              <a:t>1. Cluster: Cities with a low number of students but a higher number of students.</a:t>
            </a:r>
          </a:p>
          <a:p>
            <a:pPr algn="l">
              <a:lnSpc>
                <a:spcPts val="2640"/>
              </a:lnSpc>
            </a:pPr>
            <a:r>
              <a:rPr lang="en-US" sz="2400" dirty="0">
                <a:solidFill>
                  <a:srgbClr val="2D3D50"/>
                </a:solidFill>
                <a:latin typeface="Open Sans"/>
                <a:ea typeface="Open Sans"/>
                <a:cs typeface="Open Sans"/>
                <a:sym typeface="Open Sans"/>
              </a:rPr>
              <a:t>2. Cluster: Cities sending a moderate number of students (Ankara, Istanbul, Bursa, Trabzon, etc.).</a:t>
            </a:r>
          </a:p>
          <a:p>
            <a:pPr algn="l">
              <a:lnSpc>
                <a:spcPts val="2640"/>
              </a:lnSpc>
            </a:pPr>
            <a:r>
              <a:rPr lang="en-US" sz="2400" dirty="0">
                <a:solidFill>
                  <a:srgbClr val="2D3D50"/>
                </a:solidFill>
                <a:latin typeface="Open Sans"/>
                <a:ea typeface="Open Sans"/>
                <a:cs typeface="Open Sans"/>
                <a:sym typeface="Open Sans"/>
              </a:rPr>
              <a:t>3. Cluster: Cities with a very high number of students, such as Erzurum.</a:t>
            </a:r>
          </a:p>
          <a:p>
            <a:pPr algn="l">
              <a:lnSpc>
                <a:spcPts val="2640"/>
              </a:lnSpc>
              <a:spcBef>
                <a:spcPct val="0"/>
              </a:spcBef>
            </a:pPr>
            <a:endParaRPr lang="en-US" sz="2400" dirty="0">
              <a:solidFill>
                <a:srgbClr val="2D3D50"/>
              </a:solidFill>
              <a:latin typeface="Open Sans"/>
              <a:ea typeface="Open Sans"/>
              <a:cs typeface="Open Sans"/>
              <a:sym typeface="Open Sans"/>
            </a:endParaRPr>
          </a:p>
        </p:txBody>
      </p:sp>
      <p:sp>
        <p:nvSpPr>
          <p:cNvPr id="8" name="TextBox 8"/>
          <p:cNvSpPr txBox="1"/>
          <p:nvPr/>
        </p:nvSpPr>
        <p:spPr>
          <a:xfrm>
            <a:off x="4589190" y="6295845"/>
            <a:ext cx="12514643" cy="3002280"/>
          </a:xfrm>
          <a:prstGeom prst="rect">
            <a:avLst/>
          </a:prstGeom>
        </p:spPr>
        <p:txBody>
          <a:bodyPr lIns="0" tIns="0" rIns="0" bIns="0" rtlCol="0" anchor="t">
            <a:spAutoFit/>
          </a:bodyPr>
          <a:lstStyle/>
          <a:p>
            <a:pPr algn="just">
              <a:lnSpc>
                <a:spcPts val="2640"/>
              </a:lnSpc>
            </a:pPr>
            <a:r>
              <a:rPr lang="en-US" sz="2400" dirty="0">
                <a:solidFill>
                  <a:srgbClr val="2D3D50"/>
                </a:solidFill>
                <a:latin typeface="Open Sans"/>
                <a:ea typeface="Open Sans"/>
                <a:cs typeface="Open Sans"/>
                <a:sym typeface="Open Sans"/>
              </a:rPr>
              <a:t>The results were visualized in two different ways:</a:t>
            </a:r>
          </a:p>
          <a:p>
            <a:pPr algn="just">
              <a:lnSpc>
                <a:spcPts val="2640"/>
              </a:lnSpc>
            </a:pPr>
            <a:endParaRPr lang="en-US" sz="2400" dirty="0">
              <a:solidFill>
                <a:srgbClr val="2D3D50"/>
              </a:solidFill>
              <a:latin typeface="Open Sans"/>
              <a:ea typeface="Open Sans"/>
              <a:cs typeface="Open Sans"/>
              <a:sym typeface="Open Sans"/>
            </a:endParaRPr>
          </a:p>
          <a:p>
            <a:pPr algn="just">
              <a:lnSpc>
                <a:spcPts val="2640"/>
              </a:lnSpc>
            </a:pPr>
            <a:r>
              <a:rPr lang="en-US" sz="2400" dirty="0">
                <a:solidFill>
                  <a:srgbClr val="00578B"/>
                </a:solidFill>
                <a:latin typeface="Open Sans"/>
                <a:ea typeface="Open Sans"/>
                <a:cs typeface="Open Sans"/>
                <a:sym typeface="Open Sans"/>
              </a:rPr>
              <a:t>3D K-Means Graph:</a:t>
            </a:r>
            <a:r>
              <a:rPr lang="en-US" sz="2400" dirty="0">
                <a:solidFill>
                  <a:srgbClr val="2D3D50"/>
                </a:solidFill>
                <a:latin typeface="Open Sans"/>
                <a:ea typeface="Open Sans"/>
                <a:cs typeface="Open Sans"/>
                <a:sym typeface="Open Sans"/>
              </a:rPr>
              <a:t> The distances between cities and the distinction between clusters are clearly visible according to the three student groups.</a:t>
            </a:r>
          </a:p>
          <a:p>
            <a:pPr algn="just">
              <a:lnSpc>
                <a:spcPts val="2640"/>
              </a:lnSpc>
            </a:pPr>
            <a:endParaRPr lang="en-US" sz="2400" dirty="0">
              <a:solidFill>
                <a:srgbClr val="2D3D50"/>
              </a:solidFill>
              <a:latin typeface="Open Sans"/>
              <a:ea typeface="Open Sans"/>
              <a:cs typeface="Open Sans"/>
              <a:sym typeface="Open Sans"/>
            </a:endParaRPr>
          </a:p>
          <a:p>
            <a:pPr algn="just">
              <a:lnSpc>
                <a:spcPts val="2640"/>
              </a:lnSpc>
            </a:pPr>
            <a:r>
              <a:rPr lang="en-US" sz="2400" dirty="0">
                <a:solidFill>
                  <a:srgbClr val="00578B"/>
                </a:solidFill>
                <a:latin typeface="Open Sans"/>
                <a:ea typeface="Open Sans"/>
                <a:cs typeface="Open Sans"/>
                <a:sym typeface="Open Sans"/>
              </a:rPr>
              <a:t>Clustering on the Map of Turkey:</a:t>
            </a:r>
            <a:r>
              <a:rPr lang="en-US" sz="2400" dirty="0">
                <a:solidFill>
                  <a:srgbClr val="2D3D50"/>
                </a:solidFill>
                <a:latin typeface="Open Sans"/>
                <a:ea typeface="Open Sans"/>
                <a:cs typeface="Open Sans"/>
                <a:sym typeface="Open Sans"/>
              </a:rPr>
              <a:t> Both the clusters and geographical distributions of the cities were examined together. It was observed that cities with similar student profiles were grouped in certain regions on the map.</a:t>
            </a:r>
          </a:p>
          <a:p>
            <a:pPr algn="just">
              <a:lnSpc>
                <a:spcPts val="2640"/>
              </a:lnSpc>
              <a:spcBef>
                <a:spcPct val="0"/>
              </a:spcBef>
            </a:pPr>
            <a:endParaRPr lang="en-US" sz="2400" dirty="0">
              <a:solidFill>
                <a:srgbClr val="2D3D50"/>
              </a:solidFill>
              <a:latin typeface="Open Sans"/>
              <a:ea typeface="Open Sans"/>
              <a:cs typeface="Open Sans"/>
              <a:sym typeface="Open Sans"/>
            </a:endParaRPr>
          </a:p>
        </p:txBody>
      </p:sp>
    </p:spTree>
  </p:cSld>
  <p:clrMapOvr>
    <a:masterClrMapping/>
  </p:clrMapOvr>
  <p:transition spd="slow">
    <p:push dir="r"/>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5F6F5"/>
        </a:solidFill>
        <a:effectLst/>
      </p:bgPr>
    </p:bg>
    <p:spTree>
      <p:nvGrpSpPr>
        <p:cNvPr id="1" name=""/>
        <p:cNvGrpSpPr/>
        <p:nvPr/>
      </p:nvGrpSpPr>
      <p:grpSpPr>
        <a:xfrm>
          <a:off x="0" y="0"/>
          <a:ext cx="0" cy="0"/>
          <a:chOff x="0" y="0"/>
          <a:chExt cx="0" cy="0"/>
        </a:xfrm>
      </p:grpSpPr>
      <p:sp>
        <p:nvSpPr>
          <p:cNvPr id="2" name="Freeform 2"/>
          <p:cNvSpPr/>
          <p:nvPr/>
        </p:nvSpPr>
        <p:spPr>
          <a:xfrm>
            <a:off x="-1548878" y="7495847"/>
            <a:ext cx="4073652" cy="4114800"/>
          </a:xfrm>
          <a:custGeom>
            <a:avLst/>
            <a:gdLst/>
            <a:ahLst/>
            <a:cxnLst/>
            <a:rect l="l" t="t" r="r" b="b"/>
            <a:pathLst>
              <a:path w="4073652" h="4114800">
                <a:moveTo>
                  <a:pt x="0" y="0"/>
                </a:moveTo>
                <a:lnTo>
                  <a:pt x="4073652" y="0"/>
                </a:lnTo>
                <a:lnTo>
                  <a:pt x="4073652"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tr-TR"/>
          </a:p>
        </p:txBody>
      </p:sp>
      <p:sp>
        <p:nvSpPr>
          <p:cNvPr id="3" name="Freeform 3"/>
          <p:cNvSpPr/>
          <p:nvPr/>
        </p:nvSpPr>
        <p:spPr>
          <a:xfrm>
            <a:off x="15763226" y="-1323647"/>
            <a:ext cx="4073652" cy="4114800"/>
          </a:xfrm>
          <a:custGeom>
            <a:avLst/>
            <a:gdLst/>
            <a:ahLst/>
            <a:cxnLst/>
            <a:rect l="l" t="t" r="r" b="b"/>
            <a:pathLst>
              <a:path w="4073652" h="4114800">
                <a:moveTo>
                  <a:pt x="0" y="0"/>
                </a:moveTo>
                <a:lnTo>
                  <a:pt x="4073652" y="0"/>
                </a:lnTo>
                <a:lnTo>
                  <a:pt x="4073652"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tr-TR"/>
          </a:p>
        </p:txBody>
      </p:sp>
      <p:grpSp>
        <p:nvGrpSpPr>
          <p:cNvPr id="4" name="Group 4"/>
          <p:cNvGrpSpPr/>
          <p:nvPr/>
        </p:nvGrpSpPr>
        <p:grpSpPr>
          <a:xfrm>
            <a:off x="3119608" y="6979265"/>
            <a:ext cx="5388807" cy="1762453"/>
            <a:chOff x="0" y="0"/>
            <a:chExt cx="1419313" cy="464136"/>
          </a:xfrm>
        </p:grpSpPr>
        <p:sp>
          <p:nvSpPr>
            <p:cNvPr id="5" name="Freeform 5"/>
            <p:cNvSpPr/>
            <p:nvPr/>
          </p:nvSpPr>
          <p:spPr>
            <a:xfrm>
              <a:off x="0" y="0"/>
              <a:ext cx="1419313" cy="464136"/>
            </a:xfrm>
            <a:custGeom>
              <a:avLst/>
              <a:gdLst/>
              <a:ahLst/>
              <a:cxnLst/>
              <a:rect l="l" t="t" r="r" b="b"/>
              <a:pathLst>
                <a:path w="1419313" h="464136">
                  <a:moveTo>
                    <a:pt x="1419313" y="35917"/>
                  </a:moveTo>
                  <a:lnTo>
                    <a:pt x="1419313" y="428220"/>
                  </a:lnTo>
                  <a:cubicBezTo>
                    <a:pt x="1419313" y="437745"/>
                    <a:pt x="1415529" y="446881"/>
                    <a:pt x="1408793" y="453617"/>
                  </a:cubicBezTo>
                  <a:cubicBezTo>
                    <a:pt x="1402057" y="460352"/>
                    <a:pt x="1392922" y="464136"/>
                    <a:pt x="1383396" y="464136"/>
                  </a:cubicBezTo>
                  <a:lnTo>
                    <a:pt x="35917" y="464136"/>
                  </a:lnTo>
                  <a:cubicBezTo>
                    <a:pt x="26391" y="464136"/>
                    <a:pt x="17255" y="460352"/>
                    <a:pt x="10520" y="453617"/>
                  </a:cubicBezTo>
                  <a:cubicBezTo>
                    <a:pt x="3784" y="446881"/>
                    <a:pt x="0" y="437745"/>
                    <a:pt x="0" y="428220"/>
                  </a:cubicBezTo>
                  <a:lnTo>
                    <a:pt x="0" y="35917"/>
                  </a:lnTo>
                  <a:cubicBezTo>
                    <a:pt x="0" y="26391"/>
                    <a:pt x="3784" y="17255"/>
                    <a:pt x="10520" y="10520"/>
                  </a:cubicBezTo>
                  <a:cubicBezTo>
                    <a:pt x="17255" y="3784"/>
                    <a:pt x="26391" y="0"/>
                    <a:pt x="35917" y="0"/>
                  </a:cubicBezTo>
                  <a:lnTo>
                    <a:pt x="1383396" y="0"/>
                  </a:lnTo>
                  <a:cubicBezTo>
                    <a:pt x="1403232" y="0"/>
                    <a:pt x="1419313" y="16080"/>
                    <a:pt x="1419313" y="35917"/>
                  </a:cubicBezTo>
                  <a:close/>
                </a:path>
              </a:pathLst>
            </a:custGeom>
            <a:solidFill>
              <a:srgbClr val="00578B"/>
            </a:solidFill>
            <a:ln cap="rnd">
              <a:noFill/>
              <a:prstDash val="solid"/>
              <a:round/>
            </a:ln>
          </p:spPr>
          <p:txBody>
            <a:bodyPr/>
            <a:lstStyle/>
            <a:p>
              <a:endParaRPr lang="tr-TR"/>
            </a:p>
          </p:txBody>
        </p:sp>
        <p:sp>
          <p:nvSpPr>
            <p:cNvPr id="6" name="TextBox 6"/>
            <p:cNvSpPr txBox="1"/>
            <p:nvPr/>
          </p:nvSpPr>
          <p:spPr>
            <a:xfrm>
              <a:off x="0" y="-9525"/>
              <a:ext cx="1419313" cy="473661"/>
            </a:xfrm>
            <a:prstGeom prst="rect">
              <a:avLst/>
            </a:prstGeom>
          </p:spPr>
          <p:txBody>
            <a:bodyPr lIns="50800" tIns="50800" rIns="50800" bIns="50800" rtlCol="0" anchor="ctr"/>
            <a:lstStyle/>
            <a:p>
              <a:pPr algn="ctr">
                <a:lnSpc>
                  <a:spcPts val="2879"/>
                </a:lnSpc>
              </a:pPr>
              <a:endParaRPr/>
            </a:p>
          </p:txBody>
        </p:sp>
      </p:grpSp>
      <p:sp>
        <p:nvSpPr>
          <p:cNvPr id="7" name="TextBox 7"/>
          <p:cNvSpPr txBox="1"/>
          <p:nvPr/>
        </p:nvSpPr>
        <p:spPr>
          <a:xfrm>
            <a:off x="1580043" y="872372"/>
            <a:ext cx="5270895" cy="866775"/>
          </a:xfrm>
          <a:prstGeom prst="rect">
            <a:avLst/>
          </a:prstGeom>
        </p:spPr>
        <p:txBody>
          <a:bodyPr lIns="0" tIns="0" rIns="0" bIns="0" rtlCol="0" anchor="t">
            <a:spAutoFit/>
          </a:bodyPr>
          <a:lstStyle/>
          <a:p>
            <a:pPr marL="0" lvl="0" indent="0" algn="l">
              <a:lnSpc>
                <a:spcPts val="6720"/>
              </a:lnSpc>
              <a:spcBef>
                <a:spcPct val="0"/>
              </a:spcBef>
            </a:pPr>
            <a:r>
              <a:rPr lang="en-US" sz="5600" b="1" dirty="0">
                <a:solidFill>
                  <a:srgbClr val="00578B"/>
                </a:solidFill>
                <a:latin typeface="Roboto Bold"/>
                <a:ea typeface="Roboto Bold"/>
                <a:cs typeface="Roboto Bold"/>
                <a:sym typeface="Roboto Bold"/>
              </a:rPr>
              <a:t>How</a:t>
            </a:r>
          </a:p>
        </p:txBody>
      </p:sp>
      <p:sp>
        <p:nvSpPr>
          <p:cNvPr id="8" name="TextBox 8"/>
          <p:cNvSpPr txBox="1"/>
          <p:nvPr/>
        </p:nvSpPr>
        <p:spPr>
          <a:xfrm>
            <a:off x="3119608" y="1701047"/>
            <a:ext cx="11020580" cy="2910840"/>
          </a:xfrm>
          <a:prstGeom prst="rect">
            <a:avLst/>
          </a:prstGeom>
        </p:spPr>
        <p:txBody>
          <a:bodyPr lIns="0" tIns="0" rIns="0" bIns="0" rtlCol="0" anchor="t">
            <a:spAutoFit/>
          </a:bodyPr>
          <a:lstStyle/>
          <a:p>
            <a:pPr algn="l">
              <a:lnSpc>
                <a:spcPts val="3359"/>
              </a:lnSpc>
            </a:pPr>
            <a:r>
              <a:rPr lang="en-US" sz="2400">
                <a:solidFill>
                  <a:srgbClr val="2D3D50"/>
                </a:solidFill>
                <a:latin typeface="Open Sans"/>
                <a:ea typeface="Open Sans"/>
                <a:cs typeface="Open Sans"/>
                <a:sym typeface="Open Sans"/>
              </a:rPr>
              <a:t>The data used in the project consists of three different student groups. For each city:</a:t>
            </a:r>
          </a:p>
          <a:p>
            <a:pPr marL="518160" lvl="1" indent="-259080" algn="l">
              <a:lnSpc>
                <a:spcPts val="3359"/>
              </a:lnSpc>
              <a:buFont typeface="Arial"/>
              <a:buChar char="•"/>
            </a:pPr>
            <a:r>
              <a:rPr lang="en-US" sz="2400">
                <a:solidFill>
                  <a:srgbClr val="2D3D50"/>
                </a:solidFill>
                <a:latin typeface="Open Sans"/>
                <a:ea typeface="Open Sans"/>
                <a:cs typeface="Open Sans"/>
                <a:sym typeface="Open Sans"/>
              </a:rPr>
              <a:t>Number of students in Group 1</a:t>
            </a:r>
          </a:p>
          <a:p>
            <a:pPr marL="518160" lvl="1" indent="-259080" algn="l">
              <a:lnSpc>
                <a:spcPts val="3359"/>
              </a:lnSpc>
              <a:buFont typeface="Arial"/>
              <a:buChar char="•"/>
            </a:pPr>
            <a:r>
              <a:rPr lang="en-US" sz="2400">
                <a:solidFill>
                  <a:srgbClr val="2D3D50"/>
                </a:solidFill>
                <a:latin typeface="Open Sans"/>
                <a:ea typeface="Open Sans"/>
                <a:cs typeface="Open Sans"/>
                <a:sym typeface="Open Sans"/>
              </a:rPr>
              <a:t>Number of students in Group 2</a:t>
            </a:r>
          </a:p>
          <a:p>
            <a:pPr marL="518160" lvl="1" indent="-259080" algn="l">
              <a:lnSpc>
                <a:spcPts val="3359"/>
              </a:lnSpc>
              <a:buFont typeface="Arial"/>
              <a:buChar char="•"/>
            </a:pPr>
            <a:r>
              <a:rPr lang="en-US" sz="2400">
                <a:solidFill>
                  <a:srgbClr val="2D3D50"/>
                </a:solidFill>
                <a:latin typeface="Open Sans"/>
                <a:ea typeface="Open Sans"/>
                <a:cs typeface="Open Sans"/>
                <a:sym typeface="Open Sans"/>
              </a:rPr>
              <a:t>Number of students in Group 3</a:t>
            </a:r>
          </a:p>
          <a:p>
            <a:pPr marL="518160" lvl="1" indent="-259080" algn="l">
              <a:lnSpc>
                <a:spcPts val="3359"/>
              </a:lnSpc>
              <a:buFont typeface="Arial"/>
              <a:buChar char="•"/>
            </a:pPr>
            <a:r>
              <a:rPr lang="en-US" sz="2400">
                <a:solidFill>
                  <a:srgbClr val="2D3D50"/>
                </a:solidFill>
                <a:latin typeface="Open Sans"/>
                <a:ea typeface="Open Sans"/>
                <a:cs typeface="Open Sans"/>
                <a:sym typeface="Open Sans"/>
              </a:rPr>
              <a:t>Geographic coordinates (Lat–Lon)</a:t>
            </a:r>
          </a:p>
          <a:p>
            <a:pPr algn="l">
              <a:lnSpc>
                <a:spcPts val="3359"/>
              </a:lnSpc>
            </a:pPr>
            <a:r>
              <a:rPr lang="en-US" sz="2400">
                <a:solidFill>
                  <a:srgbClr val="2D3D50"/>
                </a:solidFill>
                <a:latin typeface="Open Sans"/>
                <a:ea typeface="Open Sans"/>
                <a:cs typeface="Open Sans"/>
                <a:sym typeface="Open Sans"/>
              </a:rPr>
              <a:t>were used.</a:t>
            </a:r>
          </a:p>
        </p:txBody>
      </p:sp>
      <p:sp>
        <p:nvSpPr>
          <p:cNvPr id="9" name="TextBox 9"/>
          <p:cNvSpPr txBox="1"/>
          <p:nvPr/>
        </p:nvSpPr>
        <p:spPr>
          <a:xfrm>
            <a:off x="3119608" y="4762499"/>
            <a:ext cx="9300992" cy="5027017"/>
          </a:xfrm>
          <a:prstGeom prst="rect">
            <a:avLst/>
          </a:prstGeom>
        </p:spPr>
        <p:txBody>
          <a:bodyPr wrap="square" lIns="0" tIns="0" rIns="0" bIns="0" rtlCol="0" anchor="t">
            <a:spAutoFit/>
          </a:bodyPr>
          <a:lstStyle/>
          <a:p>
            <a:pPr algn="l">
              <a:lnSpc>
                <a:spcPts val="3359"/>
              </a:lnSpc>
            </a:pPr>
            <a:r>
              <a:rPr lang="en-US" sz="2400" dirty="0">
                <a:solidFill>
                  <a:srgbClr val="2D3D50"/>
                </a:solidFill>
                <a:latin typeface="Open Sans"/>
                <a:ea typeface="Open Sans"/>
                <a:cs typeface="Open Sans"/>
                <a:sym typeface="Open Sans"/>
              </a:rPr>
              <a:t>To ensure the algorithm works correctly, the data was first normalized. Then, the optimal number of clusters was determined using the Elbow method. In this method, different k values ​​were tested, and k = 3, where the sharpest breakpoint was found, was selected.</a:t>
            </a:r>
          </a:p>
          <a:p>
            <a:pPr algn="ctr">
              <a:lnSpc>
                <a:spcPts val="3359"/>
              </a:lnSpc>
            </a:pPr>
            <a:endParaRPr lang="en-US" sz="2400" dirty="0">
              <a:solidFill>
                <a:srgbClr val="2D3D50"/>
              </a:solidFill>
              <a:latin typeface="Open Sans"/>
              <a:ea typeface="Open Sans"/>
              <a:cs typeface="Open Sans"/>
              <a:sym typeface="Open Sans"/>
            </a:endParaRPr>
          </a:p>
          <a:p>
            <a:pPr algn="ctr">
              <a:lnSpc>
                <a:spcPts val="3359"/>
              </a:lnSpc>
            </a:pPr>
            <a:endParaRPr lang="en-US" sz="2400" dirty="0">
              <a:solidFill>
                <a:srgbClr val="2D3D50"/>
              </a:solidFill>
              <a:latin typeface="Open Sans"/>
              <a:ea typeface="Open Sans"/>
              <a:cs typeface="Open Sans"/>
              <a:sym typeface="Open Sans"/>
            </a:endParaRPr>
          </a:p>
          <a:p>
            <a:pPr algn="ctr">
              <a:lnSpc>
                <a:spcPts val="3359"/>
              </a:lnSpc>
            </a:pPr>
            <a:endParaRPr lang="en-US" sz="2400" dirty="0">
              <a:solidFill>
                <a:srgbClr val="2D3D50"/>
              </a:solidFill>
              <a:latin typeface="Open Sans"/>
              <a:ea typeface="Open Sans"/>
              <a:cs typeface="Open Sans"/>
              <a:sym typeface="Open Sans"/>
            </a:endParaRPr>
          </a:p>
          <a:p>
            <a:pPr algn="ctr">
              <a:lnSpc>
                <a:spcPts val="3359"/>
              </a:lnSpc>
            </a:pPr>
            <a:endParaRPr lang="en-US" sz="2400" dirty="0">
              <a:solidFill>
                <a:srgbClr val="2D3D50"/>
              </a:solidFill>
              <a:latin typeface="Open Sans"/>
              <a:ea typeface="Open Sans"/>
              <a:cs typeface="Open Sans"/>
              <a:sym typeface="Open Sans"/>
            </a:endParaRPr>
          </a:p>
          <a:p>
            <a:pPr algn="ctr">
              <a:lnSpc>
                <a:spcPts val="3359"/>
              </a:lnSpc>
            </a:pPr>
            <a:endParaRPr lang="en-US" sz="2400" dirty="0">
              <a:solidFill>
                <a:srgbClr val="2D3D50"/>
              </a:solidFill>
              <a:latin typeface="Open Sans"/>
              <a:ea typeface="Open Sans"/>
              <a:cs typeface="Open Sans"/>
              <a:sym typeface="Open Sans"/>
            </a:endParaRPr>
          </a:p>
          <a:p>
            <a:pPr algn="ctr">
              <a:lnSpc>
                <a:spcPts val="2640"/>
              </a:lnSpc>
            </a:pPr>
            <a:endParaRPr lang="en-US" sz="2400" dirty="0">
              <a:solidFill>
                <a:srgbClr val="2D3D50"/>
              </a:solidFill>
              <a:latin typeface="Open Sans"/>
              <a:ea typeface="Open Sans"/>
              <a:cs typeface="Open Sans"/>
              <a:sym typeface="Open Sans"/>
            </a:endParaRPr>
          </a:p>
          <a:p>
            <a:pPr algn="l">
              <a:lnSpc>
                <a:spcPts val="2640"/>
              </a:lnSpc>
              <a:spcBef>
                <a:spcPct val="0"/>
              </a:spcBef>
            </a:pPr>
            <a:endParaRPr lang="en-US" sz="2400" dirty="0">
              <a:solidFill>
                <a:srgbClr val="2D3D50"/>
              </a:solidFill>
              <a:latin typeface="Open Sans"/>
              <a:ea typeface="Open Sans"/>
              <a:cs typeface="Open Sans"/>
              <a:sym typeface="Open Sans"/>
            </a:endParaRPr>
          </a:p>
        </p:txBody>
      </p:sp>
      <p:sp>
        <p:nvSpPr>
          <p:cNvPr id="10" name="TextBox 10"/>
          <p:cNvSpPr txBox="1"/>
          <p:nvPr/>
        </p:nvSpPr>
        <p:spPr>
          <a:xfrm>
            <a:off x="3379028" y="7074841"/>
            <a:ext cx="4621971" cy="403893"/>
          </a:xfrm>
          <a:prstGeom prst="rect">
            <a:avLst/>
          </a:prstGeom>
        </p:spPr>
        <p:txBody>
          <a:bodyPr wrap="square" lIns="0" tIns="0" rIns="0" bIns="0" rtlCol="0" anchor="t">
            <a:spAutoFit/>
          </a:bodyPr>
          <a:lstStyle/>
          <a:p>
            <a:pPr algn="ctr">
              <a:lnSpc>
                <a:spcPts val="3357"/>
              </a:lnSpc>
            </a:pPr>
            <a:r>
              <a:rPr lang="en-US" sz="2398" b="1" dirty="0">
                <a:solidFill>
                  <a:srgbClr val="F5F6F5"/>
                </a:solidFill>
                <a:latin typeface="Roboto Bold"/>
                <a:ea typeface="Roboto Bold"/>
                <a:cs typeface="Roboto Bold"/>
                <a:sym typeface="Roboto Bold"/>
              </a:rPr>
              <a:t>K-Means Algorithm</a:t>
            </a:r>
          </a:p>
        </p:txBody>
      </p:sp>
      <p:sp>
        <p:nvSpPr>
          <p:cNvPr id="11" name="TextBox 11"/>
          <p:cNvSpPr txBox="1"/>
          <p:nvPr/>
        </p:nvSpPr>
        <p:spPr>
          <a:xfrm>
            <a:off x="3249318" y="7549853"/>
            <a:ext cx="5129386" cy="984885"/>
          </a:xfrm>
          <a:prstGeom prst="rect">
            <a:avLst/>
          </a:prstGeom>
        </p:spPr>
        <p:txBody>
          <a:bodyPr lIns="0" tIns="0" rIns="0" bIns="0" rtlCol="0" anchor="t">
            <a:spAutoFit/>
          </a:bodyPr>
          <a:lstStyle/>
          <a:p>
            <a:pPr marL="388620" lvl="1" indent="-194310" algn="l">
              <a:lnSpc>
                <a:spcPts val="1980"/>
              </a:lnSpc>
              <a:buFont typeface="Arial"/>
              <a:buChar char="•"/>
            </a:pPr>
            <a:r>
              <a:rPr lang="en-US" sz="1800" dirty="0">
                <a:solidFill>
                  <a:srgbClr val="F5F6F5"/>
                </a:solidFill>
                <a:latin typeface="Open Sans"/>
                <a:ea typeface="Open Sans"/>
                <a:cs typeface="Open Sans"/>
                <a:sym typeface="Open Sans"/>
              </a:rPr>
              <a:t>Run with 20 replicates.</a:t>
            </a:r>
          </a:p>
          <a:p>
            <a:pPr marL="388620" lvl="1" indent="-194310" algn="l">
              <a:lnSpc>
                <a:spcPts val="1980"/>
              </a:lnSpc>
              <a:buFont typeface="Arial"/>
              <a:buChar char="•"/>
            </a:pPr>
            <a:r>
              <a:rPr lang="en-US" sz="1800" dirty="0">
                <a:solidFill>
                  <a:srgbClr val="F5F6F5"/>
                </a:solidFill>
                <a:latin typeface="Open Sans"/>
                <a:ea typeface="Open Sans"/>
                <a:cs typeface="Open Sans"/>
                <a:sym typeface="Open Sans"/>
              </a:rPr>
              <a:t>K-Means++ initialization method was used.</a:t>
            </a:r>
          </a:p>
          <a:p>
            <a:pPr marL="388620" lvl="1" indent="-194310" algn="l">
              <a:lnSpc>
                <a:spcPts val="1980"/>
              </a:lnSpc>
              <a:buFont typeface="Arial"/>
              <a:buChar char="•"/>
            </a:pPr>
            <a:r>
              <a:rPr lang="en-US" sz="1800" dirty="0">
                <a:solidFill>
                  <a:srgbClr val="F5F6F5"/>
                </a:solidFill>
                <a:latin typeface="Open Sans"/>
                <a:ea typeface="Open Sans"/>
                <a:cs typeface="Open Sans"/>
                <a:sym typeface="Open Sans"/>
              </a:rPr>
              <a:t>The best result with low error was automatically selected.</a:t>
            </a:r>
          </a:p>
        </p:txBody>
      </p:sp>
      <p:sp>
        <p:nvSpPr>
          <p:cNvPr id="12" name="TextBox 12"/>
          <p:cNvSpPr txBox="1"/>
          <p:nvPr/>
        </p:nvSpPr>
        <p:spPr>
          <a:xfrm>
            <a:off x="3119608" y="8883312"/>
            <a:ext cx="6045696" cy="335280"/>
          </a:xfrm>
          <a:prstGeom prst="rect">
            <a:avLst/>
          </a:prstGeom>
        </p:spPr>
        <p:txBody>
          <a:bodyPr lIns="0" tIns="0" rIns="0" bIns="0" rtlCol="0" anchor="t">
            <a:spAutoFit/>
          </a:bodyPr>
          <a:lstStyle/>
          <a:p>
            <a:pPr algn="ctr">
              <a:lnSpc>
                <a:spcPts val="2640"/>
              </a:lnSpc>
              <a:spcBef>
                <a:spcPct val="0"/>
              </a:spcBef>
            </a:pPr>
            <a:r>
              <a:rPr lang="en-US" sz="2400">
                <a:solidFill>
                  <a:srgbClr val="2D3D50"/>
                </a:solidFill>
                <a:latin typeface="Open Sans"/>
                <a:ea typeface="Open Sans"/>
                <a:cs typeface="Open Sans"/>
                <a:sym typeface="Open Sans"/>
              </a:rPr>
              <a:t>This resulted in stable and reliable clusters</a:t>
            </a:r>
          </a:p>
        </p:txBody>
      </p:sp>
    </p:spTree>
  </p:cSld>
  <p:clrMapOvr>
    <a:masterClrMapping/>
  </p:clrMapOvr>
  <p:transition spd="slow">
    <p:push dir="r"/>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5F6F5"/>
        </a:solidFill>
        <a:effectLst/>
      </p:bgPr>
    </p:bg>
    <p:spTree>
      <p:nvGrpSpPr>
        <p:cNvPr id="1" name=""/>
        <p:cNvGrpSpPr/>
        <p:nvPr/>
      </p:nvGrpSpPr>
      <p:grpSpPr>
        <a:xfrm>
          <a:off x="0" y="0"/>
          <a:ext cx="0" cy="0"/>
          <a:chOff x="0" y="0"/>
          <a:chExt cx="0" cy="0"/>
        </a:xfrm>
      </p:grpSpPr>
      <p:sp>
        <p:nvSpPr>
          <p:cNvPr id="2" name="Freeform 2"/>
          <p:cNvSpPr/>
          <p:nvPr/>
        </p:nvSpPr>
        <p:spPr>
          <a:xfrm>
            <a:off x="7107174" y="-2555070"/>
            <a:ext cx="4073652" cy="4114800"/>
          </a:xfrm>
          <a:custGeom>
            <a:avLst/>
            <a:gdLst/>
            <a:ahLst/>
            <a:cxnLst/>
            <a:rect l="l" t="t" r="r" b="b"/>
            <a:pathLst>
              <a:path w="4073652" h="4114800">
                <a:moveTo>
                  <a:pt x="0" y="0"/>
                </a:moveTo>
                <a:lnTo>
                  <a:pt x="4073652" y="0"/>
                </a:lnTo>
                <a:lnTo>
                  <a:pt x="4073652"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tr-TR"/>
          </a:p>
        </p:txBody>
      </p:sp>
      <p:sp>
        <p:nvSpPr>
          <p:cNvPr id="3" name="Freeform 3"/>
          <p:cNvSpPr/>
          <p:nvPr/>
        </p:nvSpPr>
        <p:spPr>
          <a:xfrm>
            <a:off x="7107174" y="9258300"/>
            <a:ext cx="4073652" cy="4114800"/>
          </a:xfrm>
          <a:custGeom>
            <a:avLst/>
            <a:gdLst/>
            <a:ahLst/>
            <a:cxnLst/>
            <a:rect l="l" t="t" r="r" b="b"/>
            <a:pathLst>
              <a:path w="4073652" h="4114800">
                <a:moveTo>
                  <a:pt x="0" y="0"/>
                </a:moveTo>
                <a:lnTo>
                  <a:pt x="4073652" y="0"/>
                </a:lnTo>
                <a:lnTo>
                  <a:pt x="4073652"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tr-TR"/>
          </a:p>
        </p:txBody>
      </p:sp>
      <p:sp>
        <p:nvSpPr>
          <p:cNvPr id="4" name="Freeform 4"/>
          <p:cNvSpPr/>
          <p:nvPr/>
        </p:nvSpPr>
        <p:spPr>
          <a:xfrm>
            <a:off x="228600" y="1597830"/>
            <a:ext cx="13444322" cy="3749462"/>
          </a:xfrm>
          <a:custGeom>
            <a:avLst/>
            <a:gdLst/>
            <a:ahLst/>
            <a:cxnLst/>
            <a:rect l="l" t="t" r="r" b="b"/>
            <a:pathLst>
              <a:path w="11578000" h="3232337">
                <a:moveTo>
                  <a:pt x="0" y="0"/>
                </a:moveTo>
                <a:lnTo>
                  <a:pt x="11578000" y="0"/>
                </a:lnTo>
                <a:lnTo>
                  <a:pt x="11578000" y="3232336"/>
                </a:lnTo>
                <a:lnTo>
                  <a:pt x="0" y="3232336"/>
                </a:lnTo>
                <a:lnTo>
                  <a:pt x="0" y="0"/>
                </a:lnTo>
                <a:close/>
              </a:path>
            </a:pathLst>
          </a:custGeom>
          <a:blipFill>
            <a:blip r:embed="rId4"/>
            <a:stretch>
              <a:fillRect r="-11"/>
            </a:stretch>
          </a:blipFill>
        </p:spPr>
        <p:txBody>
          <a:bodyPr/>
          <a:lstStyle/>
          <a:p>
            <a:endParaRPr lang="tr-TR"/>
          </a:p>
        </p:txBody>
      </p:sp>
      <p:grpSp>
        <p:nvGrpSpPr>
          <p:cNvPr id="5" name="Group 5"/>
          <p:cNvGrpSpPr/>
          <p:nvPr/>
        </p:nvGrpSpPr>
        <p:grpSpPr>
          <a:xfrm>
            <a:off x="10439400" y="5470738"/>
            <a:ext cx="6896100" cy="4193969"/>
            <a:chOff x="0" y="0"/>
            <a:chExt cx="862223" cy="645527"/>
          </a:xfrm>
        </p:grpSpPr>
        <p:sp>
          <p:nvSpPr>
            <p:cNvPr id="6" name="Freeform 6"/>
            <p:cNvSpPr/>
            <p:nvPr/>
          </p:nvSpPr>
          <p:spPr>
            <a:xfrm>
              <a:off x="0" y="0"/>
              <a:ext cx="862223" cy="645527"/>
            </a:xfrm>
            <a:custGeom>
              <a:avLst/>
              <a:gdLst/>
              <a:ahLst/>
              <a:cxnLst/>
              <a:rect l="l" t="t" r="r" b="b"/>
              <a:pathLst>
                <a:path w="862223" h="645527">
                  <a:moveTo>
                    <a:pt x="0" y="0"/>
                  </a:moveTo>
                  <a:lnTo>
                    <a:pt x="862223" y="0"/>
                  </a:lnTo>
                  <a:lnTo>
                    <a:pt x="862223" y="645527"/>
                  </a:lnTo>
                  <a:lnTo>
                    <a:pt x="0" y="645527"/>
                  </a:lnTo>
                  <a:close/>
                </a:path>
              </a:pathLst>
            </a:custGeom>
            <a:blipFill>
              <a:blip r:embed="rId5"/>
              <a:stretch>
                <a:fillRect t="-16091" b="-16091"/>
              </a:stretch>
            </a:blipFill>
          </p:spPr>
          <p:txBody>
            <a:bodyPr/>
            <a:lstStyle/>
            <a:p>
              <a:endParaRPr lang="tr-TR"/>
            </a:p>
          </p:txBody>
        </p:sp>
      </p:grpSp>
    </p:spTree>
  </p:cSld>
  <p:clrMapOvr>
    <a:masterClrMapping/>
  </p:clrMapOvr>
  <p:transition spd="slow">
    <p:push dir="r"/>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5F6F5"/>
        </a:solidFill>
        <a:effectLst/>
      </p:bgPr>
    </p:bg>
    <p:spTree>
      <p:nvGrpSpPr>
        <p:cNvPr id="1" name=""/>
        <p:cNvGrpSpPr/>
        <p:nvPr/>
      </p:nvGrpSpPr>
      <p:grpSpPr>
        <a:xfrm>
          <a:off x="0" y="0"/>
          <a:ext cx="0" cy="0"/>
          <a:chOff x="0" y="0"/>
          <a:chExt cx="0" cy="0"/>
        </a:xfrm>
      </p:grpSpPr>
      <p:sp>
        <p:nvSpPr>
          <p:cNvPr id="2" name="Freeform 2"/>
          <p:cNvSpPr/>
          <p:nvPr/>
        </p:nvSpPr>
        <p:spPr>
          <a:xfrm>
            <a:off x="-2605767" y="1672487"/>
            <a:ext cx="4073652" cy="4114800"/>
          </a:xfrm>
          <a:custGeom>
            <a:avLst/>
            <a:gdLst/>
            <a:ahLst/>
            <a:cxnLst/>
            <a:rect l="l" t="t" r="r" b="b"/>
            <a:pathLst>
              <a:path w="4073652" h="4114800">
                <a:moveTo>
                  <a:pt x="0" y="0"/>
                </a:moveTo>
                <a:lnTo>
                  <a:pt x="4073652" y="0"/>
                </a:lnTo>
                <a:lnTo>
                  <a:pt x="4073652"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tr-TR"/>
          </a:p>
        </p:txBody>
      </p:sp>
      <p:sp>
        <p:nvSpPr>
          <p:cNvPr id="3" name="Freeform 3"/>
          <p:cNvSpPr/>
          <p:nvPr/>
        </p:nvSpPr>
        <p:spPr>
          <a:xfrm rot="2110368">
            <a:off x="16719112" y="7735042"/>
            <a:ext cx="4073652" cy="4114800"/>
          </a:xfrm>
          <a:custGeom>
            <a:avLst/>
            <a:gdLst/>
            <a:ahLst/>
            <a:cxnLst/>
            <a:rect l="l" t="t" r="r" b="b"/>
            <a:pathLst>
              <a:path w="4073652" h="4114800">
                <a:moveTo>
                  <a:pt x="0" y="0"/>
                </a:moveTo>
                <a:lnTo>
                  <a:pt x="4073652" y="0"/>
                </a:lnTo>
                <a:lnTo>
                  <a:pt x="4073652"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tr-TR"/>
          </a:p>
        </p:txBody>
      </p:sp>
      <p:sp>
        <p:nvSpPr>
          <p:cNvPr id="4" name="Freeform 4"/>
          <p:cNvSpPr/>
          <p:nvPr/>
        </p:nvSpPr>
        <p:spPr>
          <a:xfrm>
            <a:off x="1676400" y="166139"/>
            <a:ext cx="9448800" cy="5000221"/>
          </a:xfrm>
          <a:custGeom>
            <a:avLst/>
            <a:gdLst/>
            <a:ahLst/>
            <a:cxnLst/>
            <a:rect l="l" t="t" r="r" b="b"/>
            <a:pathLst>
              <a:path w="8811730" h="4387583">
                <a:moveTo>
                  <a:pt x="0" y="0"/>
                </a:moveTo>
                <a:lnTo>
                  <a:pt x="8811730" y="0"/>
                </a:lnTo>
                <a:lnTo>
                  <a:pt x="8811730" y="4387583"/>
                </a:lnTo>
                <a:lnTo>
                  <a:pt x="0" y="4387583"/>
                </a:lnTo>
                <a:lnTo>
                  <a:pt x="0" y="0"/>
                </a:lnTo>
                <a:close/>
              </a:path>
            </a:pathLst>
          </a:custGeom>
          <a:blipFill>
            <a:blip r:embed="rId4"/>
            <a:stretch>
              <a:fillRect/>
            </a:stretch>
          </a:blipFill>
        </p:spPr>
        <p:txBody>
          <a:bodyPr/>
          <a:lstStyle/>
          <a:p>
            <a:endParaRPr lang="tr-TR"/>
          </a:p>
        </p:txBody>
      </p:sp>
      <p:sp>
        <p:nvSpPr>
          <p:cNvPr id="5" name="Freeform 5"/>
          <p:cNvSpPr/>
          <p:nvPr/>
        </p:nvSpPr>
        <p:spPr>
          <a:xfrm>
            <a:off x="8401954" y="5166360"/>
            <a:ext cx="8209646" cy="5000221"/>
          </a:xfrm>
          <a:custGeom>
            <a:avLst/>
            <a:gdLst/>
            <a:ahLst/>
            <a:cxnLst/>
            <a:rect l="l" t="t" r="r" b="b"/>
            <a:pathLst>
              <a:path w="7440120" h="4594274">
                <a:moveTo>
                  <a:pt x="0" y="0"/>
                </a:moveTo>
                <a:lnTo>
                  <a:pt x="7440119" y="0"/>
                </a:lnTo>
                <a:lnTo>
                  <a:pt x="7440119" y="4594274"/>
                </a:lnTo>
                <a:lnTo>
                  <a:pt x="0" y="4594274"/>
                </a:lnTo>
                <a:lnTo>
                  <a:pt x="0" y="0"/>
                </a:lnTo>
                <a:close/>
              </a:path>
            </a:pathLst>
          </a:custGeom>
          <a:blipFill>
            <a:blip r:embed="rId5"/>
            <a:stretch>
              <a:fillRect/>
            </a:stretch>
          </a:blipFill>
        </p:spPr>
        <p:txBody>
          <a:bodyPr/>
          <a:lstStyle/>
          <a:p>
            <a:endParaRPr lang="tr-TR"/>
          </a:p>
        </p:txBody>
      </p:sp>
    </p:spTree>
  </p:cSld>
  <p:clrMapOvr>
    <a:masterClrMapping/>
  </p:clrMapOvr>
  <p:transition spd="slow">
    <p:push dir="r"/>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5F6F5"/>
        </a:solidFill>
        <a:effectLst/>
      </p:bgPr>
    </p:bg>
    <p:spTree>
      <p:nvGrpSpPr>
        <p:cNvPr id="1" name=""/>
        <p:cNvGrpSpPr/>
        <p:nvPr/>
      </p:nvGrpSpPr>
      <p:grpSpPr>
        <a:xfrm>
          <a:off x="0" y="0"/>
          <a:ext cx="0" cy="0"/>
          <a:chOff x="0" y="0"/>
          <a:chExt cx="0" cy="0"/>
        </a:xfrm>
      </p:grpSpPr>
      <p:sp>
        <p:nvSpPr>
          <p:cNvPr id="2" name="Freeform 2"/>
          <p:cNvSpPr/>
          <p:nvPr/>
        </p:nvSpPr>
        <p:spPr>
          <a:xfrm>
            <a:off x="17005398" y="-2057400"/>
            <a:ext cx="4073652" cy="4114800"/>
          </a:xfrm>
          <a:custGeom>
            <a:avLst/>
            <a:gdLst/>
            <a:ahLst/>
            <a:cxnLst/>
            <a:rect l="l" t="t" r="r" b="b"/>
            <a:pathLst>
              <a:path w="4073652" h="4114800">
                <a:moveTo>
                  <a:pt x="0" y="0"/>
                </a:moveTo>
                <a:lnTo>
                  <a:pt x="4073652" y="0"/>
                </a:lnTo>
                <a:lnTo>
                  <a:pt x="4073652"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tr-TR"/>
          </a:p>
        </p:txBody>
      </p:sp>
      <p:sp>
        <p:nvSpPr>
          <p:cNvPr id="3" name="Freeform 3"/>
          <p:cNvSpPr/>
          <p:nvPr/>
        </p:nvSpPr>
        <p:spPr>
          <a:xfrm rot="10328520">
            <a:off x="-1644796" y="7775226"/>
            <a:ext cx="3369311" cy="3403344"/>
          </a:xfrm>
          <a:custGeom>
            <a:avLst/>
            <a:gdLst/>
            <a:ahLst/>
            <a:cxnLst/>
            <a:rect l="l" t="t" r="r" b="b"/>
            <a:pathLst>
              <a:path w="3369311" h="3403344">
                <a:moveTo>
                  <a:pt x="0" y="0"/>
                </a:moveTo>
                <a:lnTo>
                  <a:pt x="3369311" y="0"/>
                </a:lnTo>
                <a:lnTo>
                  <a:pt x="3369311" y="3403344"/>
                </a:lnTo>
                <a:lnTo>
                  <a:pt x="0" y="340334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tr-TR"/>
          </a:p>
        </p:txBody>
      </p:sp>
      <p:sp>
        <p:nvSpPr>
          <p:cNvPr id="4" name="Freeform 4"/>
          <p:cNvSpPr/>
          <p:nvPr/>
        </p:nvSpPr>
        <p:spPr>
          <a:xfrm>
            <a:off x="476823" y="604397"/>
            <a:ext cx="10481304" cy="4749044"/>
          </a:xfrm>
          <a:custGeom>
            <a:avLst/>
            <a:gdLst/>
            <a:ahLst/>
            <a:cxnLst/>
            <a:rect l="l" t="t" r="r" b="b"/>
            <a:pathLst>
              <a:path w="10481304" h="4749044">
                <a:moveTo>
                  <a:pt x="0" y="0"/>
                </a:moveTo>
                <a:lnTo>
                  <a:pt x="10481304" y="0"/>
                </a:lnTo>
                <a:lnTo>
                  <a:pt x="10481304" y="4749043"/>
                </a:lnTo>
                <a:lnTo>
                  <a:pt x="0" y="4749043"/>
                </a:lnTo>
                <a:lnTo>
                  <a:pt x="0" y="0"/>
                </a:lnTo>
                <a:close/>
              </a:path>
            </a:pathLst>
          </a:custGeom>
          <a:blipFill>
            <a:blip r:embed="rId4"/>
            <a:stretch>
              <a:fillRect r="-2432"/>
            </a:stretch>
          </a:blipFill>
        </p:spPr>
        <p:txBody>
          <a:bodyPr/>
          <a:lstStyle/>
          <a:p>
            <a:endParaRPr lang="tr-TR"/>
          </a:p>
        </p:txBody>
      </p:sp>
      <p:grpSp>
        <p:nvGrpSpPr>
          <p:cNvPr id="5" name="Group 5"/>
          <p:cNvGrpSpPr/>
          <p:nvPr/>
        </p:nvGrpSpPr>
        <p:grpSpPr>
          <a:xfrm>
            <a:off x="2711899" y="5382015"/>
            <a:ext cx="6582059" cy="4721519"/>
            <a:chOff x="0" y="0"/>
            <a:chExt cx="1019733" cy="731487"/>
          </a:xfrm>
        </p:grpSpPr>
        <p:sp>
          <p:nvSpPr>
            <p:cNvPr id="6" name="Freeform 6"/>
            <p:cNvSpPr/>
            <p:nvPr/>
          </p:nvSpPr>
          <p:spPr>
            <a:xfrm>
              <a:off x="0" y="0"/>
              <a:ext cx="1019733" cy="731487"/>
            </a:xfrm>
            <a:custGeom>
              <a:avLst/>
              <a:gdLst/>
              <a:ahLst/>
              <a:cxnLst/>
              <a:rect l="l" t="t" r="r" b="b"/>
              <a:pathLst>
                <a:path w="1019733" h="731487">
                  <a:moveTo>
                    <a:pt x="0" y="0"/>
                  </a:moveTo>
                  <a:lnTo>
                    <a:pt x="1019733" y="0"/>
                  </a:lnTo>
                  <a:lnTo>
                    <a:pt x="1019733" y="731487"/>
                  </a:lnTo>
                  <a:lnTo>
                    <a:pt x="0" y="731487"/>
                  </a:lnTo>
                  <a:close/>
                </a:path>
              </a:pathLst>
            </a:custGeom>
            <a:blipFill>
              <a:blip r:embed="rId5"/>
              <a:stretch>
                <a:fillRect t="-10680" b="-10680"/>
              </a:stretch>
            </a:blipFill>
          </p:spPr>
          <p:txBody>
            <a:bodyPr/>
            <a:lstStyle/>
            <a:p>
              <a:endParaRPr lang="tr-TR"/>
            </a:p>
          </p:txBody>
        </p:sp>
      </p:grpSp>
      <p:sp>
        <p:nvSpPr>
          <p:cNvPr id="7" name="TextBox 7"/>
          <p:cNvSpPr txBox="1"/>
          <p:nvPr/>
        </p:nvSpPr>
        <p:spPr>
          <a:xfrm>
            <a:off x="11225665" y="499622"/>
            <a:ext cx="5779733" cy="7667625"/>
          </a:xfrm>
          <a:prstGeom prst="rect">
            <a:avLst/>
          </a:prstGeom>
        </p:spPr>
        <p:txBody>
          <a:bodyPr lIns="0" tIns="0" rIns="0" bIns="0" rtlCol="0" anchor="t">
            <a:spAutoFit/>
          </a:bodyPr>
          <a:lstStyle/>
          <a:p>
            <a:pPr algn="l">
              <a:lnSpc>
                <a:spcPts val="4079"/>
              </a:lnSpc>
            </a:pPr>
            <a:r>
              <a:rPr lang="en-US" sz="2400">
                <a:solidFill>
                  <a:srgbClr val="000000"/>
                </a:solidFill>
                <a:latin typeface="Open Sans"/>
                <a:ea typeface="Open Sans"/>
                <a:cs typeface="Open Sans"/>
                <a:sym typeface="Open Sans"/>
              </a:rPr>
              <a:t>To obtain more stable and accurate results, it was run 20 times (Replicates = 20). Since K-Means randomly selects the starting centers in each run, each replication produces a different error value (WCSS). At the end of each replication, MATLAB records:</a:t>
            </a:r>
          </a:p>
          <a:p>
            <a:pPr marL="518160" lvl="1" indent="-259080" algn="l">
              <a:lnSpc>
                <a:spcPts val="4079"/>
              </a:lnSpc>
              <a:buFont typeface="Arial"/>
              <a:buChar char="•"/>
            </a:pPr>
            <a:r>
              <a:rPr lang="en-US" sz="2400">
                <a:solidFill>
                  <a:srgbClr val="000000"/>
                </a:solidFill>
                <a:latin typeface="Open Sans"/>
                <a:ea typeface="Open Sans"/>
                <a:cs typeface="Open Sans"/>
                <a:sym typeface="Open Sans"/>
              </a:rPr>
              <a:t>the number of iterations,</a:t>
            </a:r>
          </a:p>
          <a:p>
            <a:pPr marL="518160" lvl="1" indent="-259080" algn="l">
              <a:lnSpc>
                <a:spcPts val="4079"/>
              </a:lnSpc>
              <a:buFont typeface="Arial"/>
              <a:buChar char="•"/>
            </a:pPr>
            <a:r>
              <a:rPr lang="en-US" sz="2400">
                <a:solidFill>
                  <a:srgbClr val="000000"/>
                </a:solidFill>
                <a:latin typeface="Open Sans"/>
                <a:ea typeface="Open Sans"/>
                <a:cs typeface="Open Sans"/>
                <a:sym typeface="Open Sans"/>
              </a:rPr>
              <a:t>the total error value,</a:t>
            </a:r>
          </a:p>
          <a:p>
            <a:pPr marL="518160" lvl="1" indent="-259080" algn="l">
              <a:lnSpc>
                <a:spcPts val="4079"/>
              </a:lnSpc>
              <a:buFont typeface="Arial"/>
              <a:buChar char="•"/>
            </a:pPr>
            <a:r>
              <a:rPr lang="en-US" sz="2400">
                <a:solidFill>
                  <a:srgbClr val="000000"/>
                </a:solidFill>
                <a:latin typeface="Open Sans"/>
                <a:ea typeface="Open Sans"/>
                <a:cs typeface="Open Sans"/>
                <a:sym typeface="Open Sans"/>
              </a:rPr>
              <a:t>the quality of the resulting clusters.</a:t>
            </a:r>
          </a:p>
          <a:p>
            <a:pPr algn="l">
              <a:lnSpc>
                <a:spcPts val="4079"/>
              </a:lnSpc>
              <a:spcBef>
                <a:spcPct val="0"/>
              </a:spcBef>
            </a:pPr>
            <a:r>
              <a:rPr lang="en-US" sz="2400">
                <a:solidFill>
                  <a:srgbClr val="000000"/>
                </a:solidFill>
                <a:latin typeface="Open Sans"/>
                <a:ea typeface="Open Sans"/>
                <a:cs typeface="Open Sans"/>
                <a:sym typeface="Open Sans"/>
              </a:rPr>
              <a:t>After 20 runs, the replication with the lowest total error (0.596273) was selected as the best model, and the clustering of cities was done according to this result.</a:t>
            </a:r>
          </a:p>
        </p:txBody>
      </p:sp>
    </p:spTree>
  </p:cSld>
  <p:clrMapOvr>
    <a:masterClrMapping/>
  </p:clrMapOvr>
  <p:transition spd="slow">
    <p:push dir="r"/>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5F6F5"/>
        </a:solidFill>
        <a:effectLst/>
      </p:bgPr>
    </p:bg>
    <p:spTree>
      <p:nvGrpSpPr>
        <p:cNvPr id="1" name=""/>
        <p:cNvGrpSpPr/>
        <p:nvPr/>
      </p:nvGrpSpPr>
      <p:grpSpPr>
        <a:xfrm>
          <a:off x="0" y="0"/>
          <a:ext cx="0" cy="0"/>
          <a:chOff x="0" y="0"/>
          <a:chExt cx="0" cy="0"/>
        </a:xfrm>
      </p:grpSpPr>
      <p:sp>
        <p:nvSpPr>
          <p:cNvPr id="2" name="Freeform 2"/>
          <p:cNvSpPr/>
          <p:nvPr/>
        </p:nvSpPr>
        <p:spPr>
          <a:xfrm rot="2110368">
            <a:off x="16907004" y="1542394"/>
            <a:ext cx="4073652" cy="4114800"/>
          </a:xfrm>
          <a:custGeom>
            <a:avLst/>
            <a:gdLst/>
            <a:ahLst/>
            <a:cxnLst/>
            <a:rect l="l" t="t" r="r" b="b"/>
            <a:pathLst>
              <a:path w="4073652" h="4114800">
                <a:moveTo>
                  <a:pt x="0" y="0"/>
                </a:moveTo>
                <a:lnTo>
                  <a:pt x="4073652" y="0"/>
                </a:lnTo>
                <a:lnTo>
                  <a:pt x="4073652"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tr-TR"/>
          </a:p>
        </p:txBody>
      </p:sp>
      <p:sp>
        <p:nvSpPr>
          <p:cNvPr id="3" name="Freeform 3"/>
          <p:cNvSpPr/>
          <p:nvPr/>
        </p:nvSpPr>
        <p:spPr>
          <a:xfrm>
            <a:off x="1028700" y="263654"/>
            <a:ext cx="12534900" cy="3660646"/>
          </a:xfrm>
          <a:custGeom>
            <a:avLst/>
            <a:gdLst/>
            <a:ahLst/>
            <a:cxnLst/>
            <a:rect l="l" t="t" r="r" b="b"/>
            <a:pathLst>
              <a:path w="11564748" h="2568495">
                <a:moveTo>
                  <a:pt x="0" y="0"/>
                </a:moveTo>
                <a:lnTo>
                  <a:pt x="11564748" y="0"/>
                </a:lnTo>
                <a:lnTo>
                  <a:pt x="11564748" y="2568495"/>
                </a:lnTo>
                <a:lnTo>
                  <a:pt x="0" y="2568495"/>
                </a:lnTo>
                <a:lnTo>
                  <a:pt x="0" y="0"/>
                </a:lnTo>
                <a:close/>
              </a:path>
            </a:pathLst>
          </a:custGeom>
          <a:blipFill>
            <a:blip r:embed="rId4"/>
            <a:stretch>
              <a:fillRect/>
            </a:stretch>
          </a:blipFill>
        </p:spPr>
        <p:txBody>
          <a:bodyPr/>
          <a:lstStyle/>
          <a:p>
            <a:endParaRPr lang="tr-TR"/>
          </a:p>
        </p:txBody>
      </p:sp>
      <p:sp>
        <p:nvSpPr>
          <p:cNvPr id="4" name="Freeform 4"/>
          <p:cNvSpPr/>
          <p:nvPr/>
        </p:nvSpPr>
        <p:spPr>
          <a:xfrm>
            <a:off x="9753599" y="4305608"/>
            <a:ext cx="6370617" cy="5710118"/>
          </a:xfrm>
          <a:custGeom>
            <a:avLst/>
            <a:gdLst/>
            <a:ahLst/>
            <a:cxnLst/>
            <a:rect l="l" t="t" r="r" b="b"/>
            <a:pathLst>
              <a:path w="6585352" h="5975843">
                <a:moveTo>
                  <a:pt x="0" y="0"/>
                </a:moveTo>
                <a:lnTo>
                  <a:pt x="6585353" y="0"/>
                </a:lnTo>
                <a:lnTo>
                  <a:pt x="6585353" y="5975843"/>
                </a:lnTo>
                <a:lnTo>
                  <a:pt x="0" y="5975843"/>
                </a:lnTo>
                <a:lnTo>
                  <a:pt x="0" y="0"/>
                </a:lnTo>
                <a:close/>
              </a:path>
            </a:pathLst>
          </a:custGeom>
          <a:blipFill>
            <a:blip r:embed="rId5"/>
            <a:stretch>
              <a:fillRect/>
            </a:stretch>
          </a:blipFill>
        </p:spPr>
        <p:txBody>
          <a:bodyPr/>
          <a:lstStyle/>
          <a:p>
            <a:endParaRPr lang="tr-TR"/>
          </a:p>
        </p:txBody>
      </p:sp>
      <p:sp>
        <p:nvSpPr>
          <p:cNvPr id="5" name="TextBox 5"/>
          <p:cNvSpPr txBox="1"/>
          <p:nvPr/>
        </p:nvSpPr>
        <p:spPr>
          <a:xfrm>
            <a:off x="1028700" y="4788082"/>
            <a:ext cx="7200900" cy="3333541"/>
          </a:xfrm>
          <a:prstGeom prst="rect">
            <a:avLst/>
          </a:prstGeom>
        </p:spPr>
        <p:txBody>
          <a:bodyPr wrap="square" lIns="0" tIns="0" rIns="0" bIns="0" rtlCol="0" anchor="t">
            <a:spAutoFit/>
          </a:bodyPr>
          <a:lstStyle/>
          <a:p>
            <a:pPr algn="l">
              <a:lnSpc>
                <a:spcPts val="2879"/>
              </a:lnSpc>
              <a:spcBef>
                <a:spcPct val="0"/>
              </a:spcBef>
            </a:pPr>
            <a:r>
              <a:rPr lang="en-US" sz="2400" dirty="0">
                <a:solidFill>
                  <a:srgbClr val="2D3D50"/>
                </a:solidFill>
                <a:latin typeface="Open Sans"/>
                <a:ea typeface="Open Sans"/>
                <a:cs typeface="Open Sans"/>
                <a:sym typeface="Open Sans"/>
              </a:rPr>
              <a:t>This graph is a K-Means clustering visualization showing cities in 3D according to the number of students in three different groups. Each color represents a different cluster, and cities are seen as being close or far apart based on their data similarities. This allows us to observe the differences between clusters more clearly and easily understand which cities have similar student profiles.</a:t>
            </a:r>
          </a:p>
        </p:txBody>
      </p:sp>
    </p:spTree>
  </p:cSld>
  <p:clrMapOvr>
    <a:masterClrMapping/>
  </p:clrMapOvr>
  <p:transition spd="slow">
    <p:push dir="r"/>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F6F5"/>
        </a:solidFill>
        <a:effectLst/>
      </p:bgPr>
    </p:bg>
    <p:spTree>
      <p:nvGrpSpPr>
        <p:cNvPr id="1" name=""/>
        <p:cNvGrpSpPr/>
        <p:nvPr/>
      </p:nvGrpSpPr>
      <p:grpSpPr>
        <a:xfrm>
          <a:off x="0" y="0"/>
          <a:ext cx="0" cy="0"/>
          <a:chOff x="0" y="0"/>
          <a:chExt cx="0" cy="0"/>
        </a:xfrm>
      </p:grpSpPr>
      <p:sp>
        <p:nvSpPr>
          <p:cNvPr id="2" name="Freeform 2"/>
          <p:cNvSpPr/>
          <p:nvPr/>
        </p:nvSpPr>
        <p:spPr>
          <a:xfrm rot="-8404624" flipH="1">
            <a:off x="16439631" y="2802007"/>
            <a:ext cx="4073652" cy="4114800"/>
          </a:xfrm>
          <a:custGeom>
            <a:avLst/>
            <a:gdLst/>
            <a:ahLst/>
            <a:cxnLst/>
            <a:rect l="l" t="t" r="r" b="b"/>
            <a:pathLst>
              <a:path w="4073652" h="4114800">
                <a:moveTo>
                  <a:pt x="4073652" y="0"/>
                </a:moveTo>
                <a:lnTo>
                  <a:pt x="0" y="0"/>
                </a:lnTo>
                <a:lnTo>
                  <a:pt x="0" y="4114800"/>
                </a:lnTo>
                <a:lnTo>
                  <a:pt x="4073652" y="4114800"/>
                </a:lnTo>
                <a:lnTo>
                  <a:pt x="4073652"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tr-TR"/>
          </a:p>
        </p:txBody>
      </p:sp>
      <p:sp>
        <p:nvSpPr>
          <p:cNvPr id="3" name="Freeform 3"/>
          <p:cNvSpPr/>
          <p:nvPr/>
        </p:nvSpPr>
        <p:spPr>
          <a:xfrm>
            <a:off x="398878" y="368888"/>
            <a:ext cx="9126121" cy="4241212"/>
          </a:xfrm>
          <a:custGeom>
            <a:avLst/>
            <a:gdLst/>
            <a:ahLst/>
            <a:cxnLst/>
            <a:rect l="l" t="t" r="r" b="b"/>
            <a:pathLst>
              <a:path w="9109976" h="4114800">
                <a:moveTo>
                  <a:pt x="0" y="0"/>
                </a:moveTo>
                <a:lnTo>
                  <a:pt x="9109976" y="0"/>
                </a:lnTo>
                <a:lnTo>
                  <a:pt x="9109976" y="4114800"/>
                </a:lnTo>
                <a:lnTo>
                  <a:pt x="0" y="4114800"/>
                </a:lnTo>
                <a:lnTo>
                  <a:pt x="0" y="0"/>
                </a:lnTo>
                <a:close/>
              </a:path>
            </a:pathLst>
          </a:custGeom>
          <a:blipFill>
            <a:blip r:embed="rId4"/>
            <a:stretch>
              <a:fillRect/>
            </a:stretch>
          </a:blipFill>
        </p:spPr>
        <p:txBody>
          <a:bodyPr/>
          <a:lstStyle/>
          <a:p>
            <a:endParaRPr lang="tr-TR"/>
          </a:p>
        </p:txBody>
      </p:sp>
      <p:sp>
        <p:nvSpPr>
          <p:cNvPr id="4" name="Freeform 4"/>
          <p:cNvSpPr/>
          <p:nvPr/>
        </p:nvSpPr>
        <p:spPr>
          <a:xfrm>
            <a:off x="9525000" y="3619500"/>
            <a:ext cx="6947514" cy="6070012"/>
          </a:xfrm>
          <a:custGeom>
            <a:avLst/>
            <a:gdLst/>
            <a:ahLst/>
            <a:cxnLst/>
            <a:rect l="l" t="t" r="r" b="b"/>
            <a:pathLst>
              <a:path w="5840344" h="6115338">
                <a:moveTo>
                  <a:pt x="0" y="0"/>
                </a:moveTo>
                <a:lnTo>
                  <a:pt x="5840344" y="0"/>
                </a:lnTo>
                <a:lnTo>
                  <a:pt x="5840344" y="6115337"/>
                </a:lnTo>
                <a:lnTo>
                  <a:pt x="0" y="6115337"/>
                </a:lnTo>
                <a:lnTo>
                  <a:pt x="0" y="0"/>
                </a:lnTo>
                <a:close/>
              </a:path>
            </a:pathLst>
          </a:custGeom>
          <a:blipFill>
            <a:blip r:embed="rId5"/>
            <a:stretch>
              <a:fillRect/>
            </a:stretch>
          </a:blipFill>
        </p:spPr>
        <p:txBody>
          <a:bodyPr/>
          <a:lstStyle/>
          <a:p>
            <a:endParaRPr lang="tr-TR"/>
          </a:p>
        </p:txBody>
      </p:sp>
      <p:sp>
        <p:nvSpPr>
          <p:cNvPr id="5" name="TextBox 5"/>
          <p:cNvSpPr txBox="1"/>
          <p:nvPr/>
        </p:nvSpPr>
        <p:spPr>
          <a:xfrm>
            <a:off x="398879" y="4988898"/>
            <a:ext cx="6749941" cy="2162175"/>
          </a:xfrm>
          <a:prstGeom prst="rect">
            <a:avLst/>
          </a:prstGeom>
        </p:spPr>
        <p:txBody>
          <a:bodyPr lIns="0" tIns="0" rIns="0" bIns="0" rtlCol="0" anchor="t">
            <a:spAutoFit/>
          </a:bodyPr>
          <a:lstStyle/>
          <a:p>
            <a:pPr algn="l">
              <a:lnSpc>
                <a:spcPts val="2879"/>
              </a:lnSpc>
              <a:spcBef>
                <a:spcPct val="0"/>
              </a:spcBef>
            </a:pPr>
            <a:r>
              <a:rPr lang="en-US" sz="2400">
                <a:solidFill>
                  <a:srgbClr val="2D3D50"/>
                </a:solidFill>
                <a:latin typeface="Open Sans"/>
                <a:ea typeface="Open Sans"/>
                <a:cs typeface="Open Sans"/>
                <a:sym typeface="Open Sans"/>
              </a:rPr>
              <a:t>This graph shows the clusters generated by the K-Means algorithm on a map of Türkiye. Each city is colored according to its cluster number. This allows us to visually examine how cities with similar student profiles are geographically distributed.</a:t>
            </a:r>
          </a:p>
        </p:txBody>
      </p:sp>
    </p:spTree>
  </p:cSld>
  <p:clrMapOvr>
    <a:masterClrMapping/>
  </p:clrMapOvr>
  <p:transition spd="slow">
    <p:push dir="r"/>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5F6F5"/>
        </a:solidFill>
        <a:effectLst/>
      </p:bgPr>
    </p:bg>
    <p:spTree>
      <p:nvGrpSpPr>
        <p:cNvPr id="1" name=""/>
        <p:cNvGrpSpPr/>
        <p:nvPr/>
      </p:nvGrpSpPr>
      <p:grpSpPr>
        <a:xfrm>
          <a:off x="0" y="0"/>
          <a:ext cx="0" cy="0"/>
          <a:chOff x="0" y="0"/>
          <a:chExt cx="0" cy="0"/>
        </a:xfrm>
      </p:grpSpPr>
      <p:sp>
        <p:nvSpPr>
          <p:cNvPr id="2" name="Freeform 2"/>
          <p:cNvSpPr/>
          <p:nvPr/>
        </p:nvSpPr>
        <p:spPr>
          <a:xfrm rot="8914607">
            <a:off x="3592742" y="9188648"/>
            <a:ext cx="4073652" cy="4114800"/>
          </a:xfrm>
          <a:custGeom>
            <a:avLst/>
            <a:gdLst/>
            <a:ahLst/>
            <a:cxnLst/>
            <a:rect l="l" t="t" r="r" b="b"/>
            <a:pathLst>
              <a:path w="4073652" h="4114800">
                <a:moveTo>
                  <a:pt x="0" y="0"/>
                </a:moveTo>
                <a:lnTo>
                  <a:pt x="4073652" y="0"/>
                </a:lnTo>
                <a:lnTo>
                  <a:pt x="4073652"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tr-TR"/>
          </a:p>
        </p:txBody>
      </p:sp>
      <p:sp>
        <p:nvSpPr>
          <p:cNvPr id="3" name="Freeform 3"/>
          <p:cNvSpPr/>
          <p:nvPr/>
        </p:nvSpPr>
        <p:spPr>
          <a:xfrm rot="-8404624" flipH="1">
            <a:off x="10549938" y="9188648"/>
            <a:ext cx="4073652" cy="4114800"/>
          </a:xfrm>
          <a:custGeom>
            <a:avLst/>
            <a:gdLst/>
            <a:ahLst/>
            <a:cxnLst/>
            <a:rect l="l" t="t" r="r" b="b"/>
            <a:pathLst>
              <a:path w="4073652" h="4114800">
                <a:moveTo>
                  <a:pt x="4073652" y="0"/>
                </a:moveTo>
                <a:lnTo>
                  <a:pt x="0" y="0"/>
                </a:lnTo>
                <a:lnTo>
                  <a:pt x="0" y="4114800"/>
                </a:lnTo>
                <a:lnTo>
                  <a:pt x="4073652" y="4114800"/>
                </a:lnTo>
                <a:lnTo>
                  <a:pt x="4073652"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tr-TR"/>
          </a:p>
        </p:txBody>
      </p:sp>
      <p:sp>
        <p:nvSpPr>
          <p:cNvPr id="4" name="Freeform 4"/>
          <p:cNvSpPr/>
          <p:nvPr/>
        </p:nvSpPr>
        <p:spPr>
          <a:xfrm>
            <a:off x="698794" y="518845"/>
            <a:ext cx="13425072" cy="2872055"/>
          </a:xfrm>
          <a:custGeom>
            <a:avLst/>
            <a:gdLst/>
            <a:ahLst/>
            <a:cxnLst/>
            <a:rect l="l" t="t" r="r" b="b"/>
            <a:pathLst>
              <a:path w="13425072" h="2558439">
                <a:moveTo>
                  <a:pt x="0" y="0"/>
                </a:moveTo>
                <a:lnTo>
                  <a:pt x="13425072" y="0"/>
                </a:lnTo>
                <a:lnTo>
                  <a:pt x="13425072" y="2558439"/>
                </a:lnTo>
                <a:lnTo>
                  <a:pt x="0" y="2558439"/>
                </a:lnTo>
                <a:lnTo>
                  <a:pt x="0" y="0"/>
                </a:lnTo>
                <a:close/>
              </a:path>
            </a:pathLst>
          </a:custGeom>
          <a:blipFill>
            <a:blip r:embed="rId4"/>
            <a:stretch>
              <a:fillRect/>
            </a:stretch>
          </a:blipFill>
        </p:spPr>
        <p:txBody>
          <a:bodyPr/>
          <a:lstStyle/>
          <a:p>
            <a:endParaRPr lang="tr-TR"/>
          </a:p>
        </p:txBody>
      </p:sp>
      <p:grpSp>
        <p:nvGrpSpPr>
          <p:cNvPr id="5" name="Group 5"/>
          <p:cNvGrpSpPr/>
          <p:nvPr/>
        </p:nvGrpSpPr>
        <p:grpSpPr>
          <a:xfrm>
            <a:off x="698794" y="3465046"/>
            <a:ext cx="13425072" cy="5246370"/>
            <a:chOff x="0" y="0"/>
            <a:chExt cx="2079895" cy="812800"/>
          </a:xfrm>
        </p:grpSpPr>
        <p:sp>
          <p:nvSpPr>
            <p:cNvPr id="6" name="Freeform 6"/>
            <p:cNvSpPr/>
            <p:nvPr/>
          </p:nvSpPr>
          <p:spPr>
            <a:xfrm>
              <a:off x="0" y="0"/>
              <a:ext cx="2079895" cy="812800"/>
            </a:xfrm>
            <a:custGeom>
              <a:avLst/>
              <a:gdLst/>
              <a:ahLst/>
              <a:cxnLst/>
              <a:rect l="l" t="t" r="r" b="b"/>
              <a:pathLst>
                <a:path w="2079895" h="812800">
                  <a:moveTo>
                    <a:pt x="0" y="0"/>
                  </a:moveTo>
                  <a:lnTo>
                    <a:pt x="2079895" y="0"/>
                  </a:lnTo>
                  <a:lnTo>
                    <a:pt x="2079895" y="812800"/>
                  </a:lnTo>
                  <a:lnTo>
                    <a:pt x="0" y="812800"/>
                  </a:lnTo>
                  <a:close/>
                </a:path>
              </a:pathLst>
            </a:custGeom>
            <a:blipFill>
              <a:blip r:embed="rId5"/>
              <a:stretch>
                <a:fillRect l="-218" r="-218"/>
              </a:stretch>
            </a:blipFill>
          </p:spPr>
          <p:txBody>
            <a:bodyPr/>
            <a:lstStyle/>
            <a:p>
              <a:endParaRPr lang="tr-TR"/>
            </a:p>
          </p:txBody>
        </p:sp>
      </p:grpSp>
    </p:spTree>
  </p:cSld>
  <p:clrMapOvr>
    <a:masterClrMapping/>
  </p:clrMapOvr>
  <p:transition spd="slow">
    <p:push dir="r"/>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5F6F5"/>
        </a:solidFill>
        <a:effectLst/>
      </p:bgPr>
    </p:bg>
    <p:spTree>
      <p:nvGrpSpPr>
        <p:cNvPr id="1" name=""/>
        <p:cNvGrpSpPr/>
        <p:nvPr/>
      </p:nvGrpSpPr>
      <p:grpSpPr>
        <a:xfrm>
          <a:off x="0" y="0"/>
          <a:ext cx="0" cy="0"/>
          <a:chOff x="0" y="0"/>
          <a:chExt cx="0" cy="0"/>
        </a:xfrm>
      </p:grpSpPr>
      <p:sp>
        <p:nvSpPr>
          <p:cNvPr id="2" name="Freeform 2"/>
          <p:cNvSpPr/>
          <p:nvPr/>
        </p:nvSpPr>
        <p:spPr>
          <a:xfrm>
            <a:off x="-2492525" y="1531899"/>
            <a:ext cx="4073652" cy="4114800"/>
          </a:xfrm>
          <a:custGeom>
            <a:avLst/>
            <a:gdLst/>
            <a:ahLst/>
            <a:cxnLst/>
            <a:rect l="l" t="t" r="r" b="b"/>
            <a:pathLst>
              <a:path w="4073652" h="4114800">
                <a:moveTo>
                  <a:pt x="0" y="0"/>
                </a:moveTo>
                <a:lnTo>
                  <a:pt x="4073652" y="0"/>
                </a:lnTo>
                <a:lnTo>
                  <a:pt x="4073652"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tr-TR"/>
          </a:p>
        </p:txBody>
      </p:sp>
      <p:sp>
        <p:nvSpPr>
          <p:cNvPr id="3" name="Freeform 3"/>
          <p:cNvSpPr/>
          <p:nvPr/>
        </p:nvSpPr>
        <p:spPr>
          <a:xfrm>
            <a:off x="16706873" y="1531899"/>
            <a:ext cx="4073652" cy="4114800"/>
          </a:xfrm>
          <a:custGeom>
            <a:avLst/>
            <a:gdLst/>
            <a:ahLst/>
            <a:cxnLst/>
            <a:rect l="l" t="t" r="r" b="b"/>
            <a:pathLst>
              <a:path w="4073652" h="4114800">
                <a:moveTo>
                  <a:pt x="0" y="0"/>
                </a:moveTo>
                <a:lnTo>
                  <a:pt x="4073652" y="0"/>
                </a:lnTo>
                <a:lnTo>
                  <a:pt x="4073652"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tr-TR"/>
          </a:p>
        </p:txBody>
      </p:sp>
      <p:sp>
        <p:nvSpPr>
          <p:cNvPr id="4" name="TextBox 4"/>
          <p:cNvSpPr txBox="1"/>
          <p:nvPr/>
        </p:nvSpPr>
        <p:spPr>
          <a:xfrm>
            <a:off x="4348763" y="3819525"/>
            <a:ext cx="9590475" cy="2600325"/>
          </a:xfrm>
          <a:prstGeom prst="rect">
            <a:avLst/>
          </a:prstGeom>
        </p:spPr>
        <p:txBody>
          <a:bodyPr lIns="0" tIns="0" rIns="0" bIns="0" rtlCol="0" anchor="t">
            <a:spAutoFit/>
          </a:bodyPr>
          <a:lstStyle/>
          <a:p>
            <a:pPr algn="ctr">
              <a:lnSpc>
                <a:spcPts val="3479"/>
              </a:lnSpc>
            </a:pPr>
            <a:r>
              <a:rPr lang="en-US" sz="2400" spc="9">
                <a:solidFill>
                  <a:srgbClr val="2D3D50"/>
                </a:solidFill>
                <a:latin typeface="Open Sans"/>
                <a:ea typeface="Open Sans"/>
                <a:cs typeface="Open Sans"/>
                <a:sym typeface="Open Sans"/>
              </a:rPr>
              <a:t>The K-Means algorithm was applied to normalized student data, and the optimal number of clusters was determined to be three using the Elbow method. Stable results were obtained using the Replicates method, reliably analyzing the similarity structures of the cities. Graphical visualizations clearly showed the separation between clusters and their geographical distribution.</a:t>
            </a:r>
          </a:p>
        </p:txBody>
      </p:sp>
      <p:grpSp>
        <p:nvGrpSpPr>
          <p:cNvPr id="5" name="Group 5"/>
          <p:cNvGrpSpPr/>
          <p:nvPr/>
        </p:nvGrpSpPr>
        <p:grpSpPr>
          <a:xfrm>
            <a:off x="3867012" y="1172177"/>
            <a:ext cx="10523984" cy="1494774"/>
            <a:chOff x="0" y="0"/>
            <a:chExt cx="1642518" cy="233295"/>
          </a:xfrm>
        </p:grpSpPr>
        <p:sp>
          <p:nvSpPr>
            <p:cNvPr id="6" name="Freeform 6"/>
            <p:cNvSpPr/>
            <p:nvPr/>
          </p:nvSpPr>
          <p:spPr>
            <a:xfrm>
              <a:off x="0" y="0"/>
              <a:ext cx="1642518" cy="233295"/>
            </a:xfrm>
            <a:custGeom>
              <a:avLst/>
              <a:gdLst/>
              <a:ahLst/>
              <a:cxnLst/>
              <a:rect l="l" t="t" r="r" b="b"/>
              <a:pathLst>
                <a:path w="1642518" h="233295">
                  <a:moveTo>
                    <a:pt x="52231" y="0"/>
                  </a:moveTo>
                  <a:lnTo>
                    <a:pt x="1590287" y="0"/>
                  </a:lnTo>
                  <a:cubicBezTo>
                    <a:pt x="1619133" y="0"/>
                    <a:pt x="1642518" y="23385"/>
                    <a:pt x="1642518" y="52231"/>
                  </a:cubicBezTo>
                  <a:lnTo>
                    <a:pt x="1642518" y="181064"/>
                  </a:lnTo>
                  <a:cubicBezTo>
                    <a:pt x="1642518" y="209911"/>
                    <a:pt x="1619133" y="233295"/>
                    <a:pt x="1590287" y="233295"/>
                  </a:cubicBezTo>
                  <a:lnTo>
                    <a:pt x="52231" y="233295"/>
                  </a:lnTo>
                  <a:cubicBezTo>
                    <a:pt x="23385" y="233295"/>
                    <a:pt x="0" y="209911"/>
                    <a:pt x="0" y="181064"/>
                  </a:cubicBezTo>
                  <a:lnTo>
                    <a:pt x="0" y="52231"/>
                  </a:lnTo>
                  <a:cubicBezTo>
                    <a:pt x="0" y="23385"/>
                    <a:pt x="23385" y="0"/>
                    <a:pt x="52231" y="0"/>
                  </a:cubicBezTo>
                  <a:close/>
                </a:path>
              </a:pathLst>
            </a:custGeom>
            <a:solidFill>
              <a:srgbClr val="F5F6F5"/>
            </a:solidFill>
            <a:ln w="85725" cap="rnd">
              <a:solidFill>
                <a:srgbClr val="2D3D50"/>
              </a:solidFill>
              <a:prstDash val="solid"/>
              <a:round/>
            </a:ln>
          </p:spPr>
          <p:txBody>
            <a:bodyPr/>
            <a:lstStyle/>
            <a:p>
              <a:endParaRPr lang="tr-TR"/>
            </a:p>
          </p:txBody>
        </p:sp>
        <p:sp>
          <p:nvSpPr>
            <p:cNvPr id="7" name="TextBox 7"/>
            <p:cNvSpPr txBox="1"/>
            <p:nvPr/>
          </p:nvSpPr>
          <p:spPr>
            <a:xfrm>
              <a:off x="0" y="-9525"/>
              <a:ext cx="1642518" cy="242820"/>
            </a:xfrm>
            <a:prstGeom prst="rect">
              <a:avLst/>
            </a:prstGeom>
          </p:spPr>
          <p:txBody>
            <a:bodyPr lIns="50800" tIns="50800" rIns="50800" bIns="50800" rtlCol="0" anchor="ctr"/>
            <a:lstStyle/>
            <a:p>
              <a:pPr algn="ctr">
                <a:lnSpc>
                  <a:spcPts val="2879"/>
                </a:lnSpc>
              </a:pPr>
              <a:endParaRPr/>
            </a:p>
          </p:txBody>
        </p:sp>
      </p:grpSp>
      <p:sp>
        <p:nvSpPr>
          <p:cNvPr id="8" name="TextBox 8"/>
          <p:cNvSpPr txBox="1"/>
          <p:nvPr/>
        </p:nvSpPr>
        <p:spPr>
          <a:xfrm>
            <a:off x="2248459" y="1440457"/>
            <a:ext cx="13272728" cy="1024890"/>
          </a:xfrm>
          <a:prstGeom prst="rect">
            <a:avLst/>
          </a:prstGeom>
        </p:spPr>
        <p:txBody>
          <a:bodyPr lIns="0" tIns="0" rIns="0" bIns="0" rtlCol="0" anchor="t">
            <a:spAutoFit/>
          </a:bodyPr>
          <a:lstStyle/>
          <a:p>
            <a:pPr marL="0" lvl="0" indent="0" algn="ctr">
              <a:lnSpc>
                <a:spcPts val="7920"/>
              </a:lnSpc>
              <a:spcBef>
                <a:spcPct val="0"/>
              </a:spcBef>
            </a:pPr>
            <a:r>
              <a:rPr lang="en-US" sz="7200" b="1">
                <a:solidFill>
                  <a:srgbClr val="00578B"/>
                </a:solidFill>
                <a:latin typeface="Open Sans Bold"/>
                <a:ea typeface="Open Sans Bold"/>
                <a:cs typeface="Open Sans Bold"/>
                <a:sym typeface="Open Sans Bold"/>
              </a:rPr>
              <a:t>Project Summary</a:t>
            </a:r>
          </a:p>
        </p:txBody>
      </p:sp>
    </p:spTree>
  </p:cSld>
  <p:clrMapOvr>
    <a:masterClrMapping/>
  </p:clrMapOvr>
  <p:transition spd="slow">
    <p:push dir="r"/>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5F6F5"/>
        </a:solidFill>
        <a:effectLst/>
      </p:bgPr>
    </p:bg>
    <p:spTree>
      <p:nvGrpSpPr>
        <p:cNvPr id="1" name=""/>
        <p:cNvGrpSpPr/>
        <p:nvPr/>
      </p:nvGrpSpPr>
      <p:grpSpPr>
        <a:xfrm>
          <a:off x="0" y="0"/>
          <a:ext cx="0" cy="0"/>
          <a:chOff x="0" y="0"/>
          <a:chExt cx="0" cy="0"/>
        </a:xfrm>
      </p:grpSpPr>
      <p:sp>
        <p:nvSpPr>
          <p:cNvPr id="2" name="TextBox 2"/>
          <p:cNvSpPr txBox="1"/>
          <p:nvPr/>
        </p:nvSpPr>
        <p:spPr>
          <a:xfrm>
            <a:off x="771525" y="3468931"/>
            <a:ext cx="16744950" cy="2679700"/>
          </a:xfrm>
          <a:prstGeom prst="rect">
            <a:avLst/>
          </a:prstGeom>
        </p:spPr>
        <p:txBody>
          <a:bodyPr lIns="0" tIns="0" rIns="0" bIns="0" rtlCol="0" anchor="t">
            <a:spAutoFit/>
          </a:bodyPr>
          <a:lstStyle/>
          <a:p>
            <a:pPr marL="0" lvl="0" indent="0" algn="ctr">
              <a:lnSpc>
                <a:spcPts val="20000"/>
              </a:lnSpc>
            </a:pPr>
            <a:r>
              <a:rPr lang="en-US" sz="20000" u="none">
                <a:solidFill>
                  <a:srgbClr val="00578B"/>
                </a:solidFill>
                <a:latin typeface="Roboto"/>
                <a:ea typeface="Roboto"/>
                <a:cs typeface="Roboto"/>
                <a:sym typeface="Roboto"/>
              </a:rPr>
              <a:t>Thank you!</a:t>
            </a:r>
          </a:p>
        </p:txBody>
      </p:sp>
      <p:sp>
        <p:nvSpPr>
          <p:cNvPr id="3" name="Freeform 3"/>
          <p:cNvSpPr/>
          <p:nvPr/>
        </p:nvSpPr>
        <p:spPr>
          <a:xfrm>
            <a:off x="13314235" y="-2023502"/>
            <a:ext cx="4073652" cy="4114800"/>
          </a:xfrm>
          <a:custGeom>
            <a:avLst/>
            <a:gdLst/>
            <a:ahLst/>
            <a:cxnLst/>
            <a:rect l="l" t="t" r="r" b="b"/>
            <a:pathLst>
              <a:path w="4073652" h="4114800">
                <a:moveTo>
                  <a:pt x="0" y="0"/>
                </a:moveTo>
                <a:lnTo>
                  <a:pt x="4073652" y="0"/>
                </a:lnTo>
                <a:lnTo>
                  <a:pt x="4073652"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tr-TR"/>
          </a:p>
        </p:txBody>
      </p:sp>
      <p:sp>
        <p:nvSpPr>
          <p:cNvPr id="4" name="Freeform 4"/>
          <p:cNvSpPr/>
          <p:nvPr/>
        </p:nvSpPr>
        <p:spPr>
          <a:xfrm>
            <a:off x="900112" y="8195702"/>
            <a:ext cx="4073652" cy="4114800"/>
          </a:xfrm>
          <a:custGeom>
            <a:avLst/>
            <a:gdLst/>
            <a:ahLst/>
            <a:cxnLst/>
            <a:rect l="l" t="t" r="r" b="b"/>
            <a:pathLst>
              <a:path w="4073652" h="4114800">
                <a:moveTo>
                  <a:pt x="0" y="0"/>
                </a:moveTo>
                <a:lnTo>
                  <a:pt x="4073652" y="0"/>
                </a:lnTo>
                <a:lnTo>
                  <a:pt x="4073652"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tr-TR"/>
          </a:p>
        </p:txBody>
      </p:sp>
      <p:sp>
        <p:nvSpPr>
          <p:cNvPr id="5" name="TextBox 5"/>
          <p:cNvSpPr txBox="1"/>
          <p:nvPr/>
        </p:nvSpPr>
        <p:spPr>
          <a:xfrm>
            <a:off x="3541575" y="6275921"/>
            <a:ext cx="11204850" cy="556895"/>
          </a:xfrm>
          <a:prstGeom prst="rect">
            <a:avLst/>
          </a:prstGeom>
        </p:spPr>
        <p:txBody>
          <a:bodyPr lIns="0" tIns="0" rIns="0" bIns="0" rtlCol="0" anchor="t">
            <a:spAutoFit/>
          </a:bodyPr>
          <a:lstStyle/>
          <a:p>
            <a:pPr algn="ctr">
              <a:lnSpc>
                <a:spcPts val="4480"/>
              </a:lnSpc>
            </a:pPr>
            <a:r>
              <a:rPr lang="en-US" sz="3200" b="1">
                <a:solidFill>
                  <a:srgbClr val="FF1E41"/>
                </a:solidFill>
                <a:latin typeface="Roboto Bold"/>
                <a:ea typeface="Roboto Bold"/>
                <a:cs typeface="Roboto Bold"/>
                <a:sym typeface="Roboto Bold"/>
              </a:rPr>
              <a:t>For Listening</a:t>
            </a:r>
          </a:p>
        </p:txBody>
      </p:sp>
    </p:spTree>
  </p:cSld>
  <p:clrMapOvr>
    <a:masterClrMapping/>
  </p:clrMapOvr>
  <p:transition spd="slow">
    <p:push dir="r"/>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TotalTime>
  <Words>580</Words>
  <Application>Microsoft Office PowerPoint</Application>
  <PresentationFormat>Özel</PresentationFormat>
  <Paragraphs>46</Paragraphs>
  <Slides>11</Slides>
  <Notes>0</Notes>
  <HiddenSlides>0</HiddenSlides>
  <MMClips>0</MMClips>
  <ScaleCrop>false</ScaleCrop>
  <HeadingPairs>
    <vt:vector size="6" baseType="variant">
      <vt:variant>
        <vt:lpstr>Kullanılan Yazı Tipleri</vt:lpstr>
      </vt:variant>
      <vt:variant>
        <vt:i4>7</vt:i4>
      </vt:variant>
      <vt:variant>
        <vt:lpstr>Tema</vt:lpstr>
      </vt:variant>
      <vt:variant>
        <vt:i4>1</vt:i4>
      </vt:variant>
      <vt:variant>
        <vt:lpstr>Slayt Başlıkları</vt:lpstr>
      </vt:variant>
      <vt:variant>
        <vt:i4>11</vt:i4>
      </vt:variant>
    </vt:vector>
  </HeadingPairs>
  <TitlesOfParts>
    <vt:vector size="19" baseType="lpstr">
      <vt:lpstr>Roboto Bold</vt:lpstr>
      <vt:lpstr>Arial</vt:lpstr>
      <vt:lpstr>Canva Sans Bold</vt:lpstr>
      <vt:lpstr>Roboto</vt:lpstr>
      <vt:lpstr>Open Sans Bold</vt:lpstr>
      <vt:lpstr>Open Sans</vt:lpstr>
      <vt:lpstr>Calibri</vt:lpstr>
      <vt:lpstr>Office Theme</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K-Means Algorithms</dc:title>
  <cp:lastModifiedBy>iremsu ümit</cp:lastModifiedBy>
  <cp:revision>4</cp:revision>
  <dcterms:created xsi:type="dcterms:W3CDTF">2006-08-16T00:00:00Z</dcterms:created>
  <dcterms:modified xsi:type="dcterms:W3CDTF">2025-12-12T21:35:22Z</dcterms:modified>
  <dc:identifier>DAG7S1YyW1Y</dc:identifier>
</cp:coreProperties>
</file>